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3498DB">
              <a:alpha val="20000"/>
            </a:srgbClr>
          </a:solidFill>
          <a:ln/>
        </p:spPr>
      </p:sp>
      <p:sp>
        <p:nvSpPr>
          <p:cNvPr id="3" name="Shape 1"/>
          <p:cNvSpPr/>
          <p:nvPr/>
        </p:nvSpPr>
        <p:spPr>
          <a:xfrm>
            <a:off x="6400800" y="2743200"/>
            <a:ext cx="5486400" cy="5486400"/>
          </a:xfrm>
          <a:prstGeom prst="ellipse">
            <a:avLst/>
          </a:prstGeom>
          <a:solidFill>
            <a:srgbClr val="3498DB">
              <a:alpha val="15000"/>
            </a:srgbClr>
          </a:solidFill>
          <a:ln/>
        </p:spPr>
      </p:sp>
      <p:sp>
        <p:nvSpPr>
          <p:cNvPr id="4" name="Shape 2"/>
          <p:cNvSpPr/>
          <p:nvPr/>
        </p:nvSpPr>
        <p:spPr>
          <a:xfrm>
            <a:off x="0" y="4572000"/>
            <a:ext cx="9144000" cy="571500"/>
          </a:xfrm>
          <a:prstGeom prst="rect">
            <a:avLst/>
          </a:prstGeom>
          <a:solidFill>
            <a:srgbClr val="3498DB"/>
          </a:solidFill>
          <a:ln/>
        </p:spPr>
      </p:sp>
      <p:sp>
        <p:nvSpPr>
          <p:cNvPr id="5" name="Shape 3"/>
          <p:cNvSpPr/>
          <p:nvPr/>
        </p:nvSpPr>
        <p:spPr>
          <a:xfrm>
            <a:off x="3886200" y="457200"/>
            <a:ext cx="1371600" cy="1371600"/>
          </a:xfrm>
          <a:prstGeom prst="ellipse">
            <a:avLst/>
          </a:prstGeom>
          <a:solidFill>
            <a:srgbClr val="3498DB">
              <a:alpha val="70000"/>
            </a:srgbClr>
          </a:solidFill>
          <a:ln/>
        </p:spPr>
      </p:sp>
      <p:pic>
        <p:nvPicPr>
          <p:cNvPr id="6" name="Image 0" descr="preencoded.png"/>
          <p:cNvPicPr>
            <a:picLocks noChangeAspect="1"/>
          </p:cNvPicPr>
          <p:nvPr/>
        </p:nvPicPr>
        <p:blipFill>
          <a:blip r:embed="rId1"/>
          <a:stretch>
            <a:fillRect/>
          </a:stretch>
        </p:blipFill>
        <p:spPr>
          <a:xfrm>
            <a:off x="4160520" y="685800"/>
            <a:ext cx="822960" cy="822960"/>
          </a:xfrm>
          <a:prstGeom prst="rect">
            <a:avLst/>
          </a:prstGeom>
        </p:spPr>
      </p:pic>
      <p:sp>
        <p:nvSpPr>
          <p:cNvPr id="7" name="Text 4"/>
          <p:cNvSpPr/>
          <p:nvPr/>
        </p:nvSpPr>
        <p:spPr>
          <a:xfrm>
            <a:off x="457200" y="1645920"/>
            <a:ext cx="822960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併願パターン提案ツール</a:t>
            </a:r>
            <a:endParaRPr lang="en-US" sz="3600" dirty="0"/>
          </a:p>
        </p:txBody>
      </p:sp>
      <p:sp>
        <p:nvSpPr>
          <p:cNvPr id="8" name="Text 5"/>
          <p:cNvSpPr/>
          <p:nvPr/>
        </p:nvSpPr>
        <p:spPr>
          <a:xfrm>
            <a:off x="457200" y="2377440"/>
            <a:ext cx="8229600" cy="548640"/>
          </a:xfrm>
          <a:prstGeom prst="rect">
            <a:avLst/>
          </a:prstGeom>
          <a:noFill/>
          <a:ln/>
        </p:spPr>
        <p:txBody>
          <a:bodyPr wrap="square" lIns="0" tIns="0" rIns="0" bIns="0" rtlCol="0" anchor="ctr"/>
          <a:lstStyle/>
          <a:p>
            <a:pPr algn="ctr" indent="0" marL="0">
              <a:buNone/>
            </a:pPr>
            <a:r>
              <a:rPr lang="en-US" sz="2400" b="1" dirty="0">
                <a:solidFill>
                  <a:srgbClr val="3498DB"/>
                </a:solidFill>
                <a:latin typeface="Calibri" pitchFamily="34" charset="0"/>
                <a:ea typeface="Calibri" pitchFamily="34" charset="-122"/>
                <a:cs typeface="Calibri" pitchFamily="34" charset="-120"/>
              </a:rPr>
              <a:t>使い方マニュアル</a:t>
            </a:r>
            <a:endParaRPr lang="en-US" sz="2400" dirty="0"/>
          </a:p>
        </p:txBody>
      </p:sp>
      <p:sp>
        <p:nvSpPr>
          <p:cNvPr id="9" name="Text 6"/>
          <p:cNvSpPr/>
          <p:nvPr/>
        </p:nvSpPr>
        <p:spPr>
          <a:xfrm>
            <a:off x="457200" y="3200400"/>
            <a:ext cx="8229600" cy="457200"/>
          </a:xfrm>
          <a:prstGeom prst="rect">
            <a:avLst/>
          </a:prstGeom>
          <a:noFill/>
          <a:ln/>
        </p:spPr>
        <p:txBody>
          <a:bodyPr wrap="square" lIns="0" tIns="0" rIns="0" bIns="0" rtlCol="0" anchor="ctr"/>
          <a:lstStyle/>
          <a:p>
            <a:pPr algn="ctr" indent="0" marL="0">
              <a:buNone/>
            </a:pPr>
            <a:r>
              <a:rPr lang="en-US" sz="1400" dirty="0">
                <a:solidFill>
                  <a:srgbClr val="B0BEC5"/>
                </a:solidFill>
                <a:latin typeface="Calibri" pitchFamily="34" charset="0"/>
                <a:ea typeface="Calibri" pitchFamily="34" charset="-122"/>
                <a:cs typeface="Calibri" pitchFamily="34" charset="-120"/>
              </a:rPr>
              <a:t>お子さまに最適な併願プランを、かんたん3ステップで</a:t>
            </a:r>
            <a:endParaRPr lang="en-US" sz="1400" dirty="0"/>
          </a:p>
        </p:txBody>
      </p:sp>
      <p:sp>
        <p:nvSpPr>
          <p:cNvPr id="10" name="Text 7"/>
          <p:cNvSpPr/>
          <p:nvPr/>
        </p:nvSpPr>
        <p:spPr>
          <a:xfrm>
            <a:off x="457200" y="4663440"/>
            <a:ext cx="822960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686校・約2,300入試分のデータ内蔵  |  スマホ・PC対応  |  結果の保存・共有OK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3E50"/>
          </a:solidFill>
          <a:ln/>
        </p:spPr>
      </p:sp>
      <p:sp>
        <p:nvSpPr>
          <p:cNvPr id="3" name="Text 1"/>
          <p:cNvSpPr/>
          <p:nvPr/>
        </p:nvSpPr>
        <p:spPr>
          <a:xfrm>
            <a:off x="548640" y="91440"/>
            <a:ext cx="731520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このツールでできること</a:t>
            </a:r>
            <a:endParaRPr lang="en-US" sz="2400" dirty="0"/>
          </a:p>
        </p:txBody>
      </p:sp>
      <p:sp>
        <p:nvSpPr>
          <p:cNvPr id="4" name="Shape 2"/>
          <p:cNvSpPr/>
          <p:nvPr/>
        </p:nvSpPr>
        <p:spPr>
          <a:xfrm>
            <a:off x="457200" y="1097280"/>
            <a:ext cx="2606040" cy="34747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5" name="Shape 3"/>
          <p:cNvSpPr/>
          <p:nvPr/>
        </p:nvSpPr>
        <p:spPr>
          <a:xfrm>
            <a:off x="1303020" y="1371600"/>
            <a:ext cx="914400" cy="914400"/>
          </a:xfrm>
          <a:prstGeom prst="ellipse">
            <a:avLst/>
          </a:prstGeom>
          <a:solidFill>
            <a:srgbClr val="3498DB"/>
          </a:solidFill>
          <a:ln/>
        </p:spPr>
      </p:sp>
      <p:pic>
        <p:nvPicPr>
          <p:cNvPr id="6" name="Image 0" descr="preencoded.png"/>
          <p:cNvPicPr>
            <a:picLocks noChangeAspect="1"/>
          </p:cNvPicPr>
          <p:nvPr/>
        </p:nvPicPr>
        <p:blipFill>
          <a:blip r:embed="rId1"/>
          <a:stretch>
            <a:fillRect/>
          </a:stretch>
        </p:blipFill>
        <p:spPr>
          <a:xfrm>
            <a:off x="1508760" y="1572768"/>
            <a:ext cx="502920" cy="502920"/>
          </a:xfrm>
          <a:prstGeom prst="rect">
            <a:avLst/>
          </a:prstGeom>
        </p:spPr>
      </p:pic>
      <p:sp>
        <p:nvSpPr>
          <p:cNvPr id="7" name="Text 4"/>
          <p:cNvSpPr/>
          <p:nvPr/>
        </p:nvSpPr>
        <p:spPr>
          <a:xfrm>
            <a:off x="594360" y="2468880"/>
            <a:ext cx="2331720" cy="731520"/>
          </a:xfrm>
          <a:prstGeom prst="rect">
            <a:avLst/>
          </a:prstGeom>
          <a:noFill/>
          <a:ln/>
        </p:spPr>
        <p:txBody>
          <a:bodyPr wrap="square" lIns="0" tIns="0" rIns="0" bIns="0" rtlCol="0" anchor="ctr"/>
          <a:lstStyle/>
          <a:p>
            <a:pPr algn="ctr" indent="0" marL="0">
              <a:buNone/>
            </a:pPr>
            <a:r>
              <a:rPr lang="en-US" sz="1600" b="1" dirty="0">
                <a:solidFill>
                  <a:srgbClr val="2D3436"/>
                </a:solidFill>
                <a:latin typeface="Calibri" pitchFamily="34" charset="0"/>
                <a:ea typeface="Calibri" pitchFamily="34" charset="-122"/>
                <a:cs typeface="Calibri" pitchFamily="34" charset="-120"/>
              </a:rPr>
              <a:t>条件を入力</a:t>
            </a:r>
            <a:endParaRPr lang="en-US" sz="1600" dirty="0"/>
          </a:p>
        </p:txBody>
      </p:sp>
      <p:sp>
        <p:nvSpPr>
          <p:cNvPr id="8" name="Text 5"/>
          <p:cNvSpPr/>
          <p:nvPr/>
        </p:nvSpPr>
        <p:spPr>
          <a:xfrm>
            <a:off x="594360" y="3246120"/>
            <a:ext cx="2331720" cy="914400"/>
          </a:xfrm>
          <a:prstGeom prst="rect">
            <a:avLst/>
          </a:prstGeom>
          <a:noFill/>
          <a:ln/>
        </p:spPr>
        <p:txBody>
          <a:bodyPr wrap="square" lIns="0" tIns="0" rIns="0" bIns="0" rtlCol="0" anchor="ctr"/>
          <a:lstStyle/>
          <a:p>
            <a:pPr algn="ctr" indent="0" marL="0">
              <a:buNone/>
            </a:pPr>
            <a:r>
              <a:rPr lang="en-US" sz="1200" dirty="0">
                <a:solidFill>
                  <a:srgbClr val="636E72"/>
                </a:solidFill>
                <a:latin typeface="Calibri" pitchFamily="34" charset="0"/>
                <a:ea typeface="Calibri" pitchFamily="34" charset="-122"/>
                <a:cs typeface="Calibri" pitchFamily="34" charset="-120"/>
              </a:rPr>
              <a:t>性別・偏差値・エリア・</a:t>
            </a:r>
            <a:endParaRPr lang="en-US" sz="1200" dirty="0"/>
          </a:p>
          <a:p>
            <a:pPr algn="ctr" indent="0" marL="0">
              <a:buNone/>
            </a:pPr>
            <a:r>
              <a:rPr lang="en-US" sz="1200" dirty="0">
                <a:solidFill>
                  <a:srgbClr val="636E72"/>
                </a:solidFill>
                <a:latin typeface="Calibri" pitchFamily="34" charset="0"/>
                <a:ea typeface="Calibri" pitchFamily="34" charset="-122"/>
                <a:cs typeface="Calibri" pitchFamily="34" charset="-120"/>
              </a:rPr>
              <a:t>志望校などを選ぶだけ</a:t>
            </a:r>
            <a:endParaRPr lang="en-US" sz="1200" dirty="0"/>
          </a:p>
        </p:txBody>
      </p:sp>
      <p:pic>
        <p:nvPicPr>
          <p:cNvPr id="9" name="Image 1" descr="preencoded.png"/>
          <p:cNvPicPr>
            <a:picLocks noChangeAspect="1"/>
          </p:cNvPicPr>
          <p:nvPr/>
        </p:nvPicPr>
        <p:blipFill>
          <a:blip r:embed="rId2"/>
          <a:stretch>
            <a:fillRect/>
          </a:stretch>
        </p:blipFill>
        <p:spPr>
          <a:xfrm>
            <a:off x="3108960" y="2560320"/>
            <a:ext cx="320040" cy="320040"/>
          </a:xfrm>
          <a:prstGeom prst="rect">
            <a:avLst/>
          </a:prstGeom>
        </p:spPr>
      </p:pic>
      <p:sp>
        <p:nvSpPr>
          <p:cNvPr id="10" name="Shape 6"/>
          <p:cNvSpPr/>
          <p:nvPr/>
        </p:nvSpPr>
        <p:spPr>
          <a:xfrm>
            <a:off x="3337560" y="1097280"/>
            <a:ext cx="2606040" cy="34747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1" name="Shape 7"/>
          <p:cNvSpPr/>
          <p:nvPr/>
        </p:nvSpPr>
        <p:spPr>
          <a:xfrm>
            <a:off x="4183380" y="1371600"/>
            <a:ext cx="914400" cy="914400"/>
          </a:xfrm>
          <a:prstGeom prst="ellipse">
            <a:avLst/>
          </a:prstGeom>
          <a:solidFill>
            <a:srgbClr val="2ECC71"/>
          </a:solidFill>
          <a:ln/>
        </p:spPr>
      </p:sp>
      <p:pic>
        <p:nvPicPr>
          <p:cNvPr id="12" name="Image 2" descr="preencoded.png"/>
          <p:cNvPicPr>
            <a:picLocks noChangeAspect="1"/>
          </p:cNvPicPr>
          <p:nvPr/>
        </p:nvPicPr>
        <p:blipFill>
          <a:blip r:embed="rId3"/>
          <a:stretch>
            <a:fillRect/>
          </a:stretch>
        </p:blipFill>
        <p:spPr>
          <a:xfrm>
            <a:off x="4389120" y="1572768"/>
            <a:ext cx="502920" cy="502920"/>
          </a:xfrm>
          <a:prstGeom prst="rect">
            <a:avLst/>
          </a:prstGeom>
        </p:spPr>
      </p:pic>
      <p:sp>
        <p:nvSpPr>
          <p:cNvPr id="13" name="Text 8"/>
          <p:cNvSpPr/>
          <p:nvPr/>
        </p:nvSpPr>
        <p:spPr>
          <a:xfrm>
            <a:off x="3474720" y="2468880"/>
            <a:ext cx="2331720" cy="731520"/>
          </a:xfrm>
          <a:prstGeom prst="rect">
            <a:avLst/>
          </a:prstGeom>
          <a:noFill/>
          <a:ln/>
        </p:spPr>
        <p:txBody>
          <a:bodyPr wrap="square" lIns="0" tIns="0" rIns="0" bIns="0" rtlCol="0" anchor="ctr"/>
          <a:lstStyle/>
          <a:p>
            <a:pPr algn="ctr" indent="0" marL="0">
              <a:buNone/>
            </a:pPr>
            <a:r>
              <a:rPr lang="en-US" sz="1600" b="1" dirty="0">
                <a:solidFill>
                  <a:srgbClr val="2D3436"/>
                </a:solidFill>
                <a:latin typeface="Calibri" pitchFamily="34" charset="0"/>
                <a:ea typeface="Calibri" pitchFamily="34" charset="-122"/>
                <a:cs typeface="Calibri" pitchFamily="34" charset="-120"/>
              </a:rPr>
              <a:t>3タイプの</a:t>
            </a:r>
            <a:endParaRPr lang="en-US" sz="1600" dirty="0"/>
          </a:p>
          <a:p>
            <a:pPr algn="ctr" indent="0" marL="0">
              <a:buNone/>
            </a:pPr>
            <a:r>
              <a:rPr lang="en-US" sz="1600" b="1" dirty="0">
                <a:solidFill>
                  <a:srgbClr val="2D3436"/>
                </a:solidFill>
                <a:latin typeface="Calibri" pitchFamily="34" charset="0"/>
                <a:ea typeface="Calibri" pitchFamily="34" charset="-122"/>
                <a:cs typeface="Calibri" pitchFamily="34" charset="-120"/>
              </a:rPr>
              <a:t>併願プランを提案</a:t>
            </a:r>
            <a:endParaRPr lang="en-US" sz="1600" dirty="0"/>
          </a:p>
        </p:txBody>
      </p:sp>
      <p:sp>
        <p:nvSpPr>
          <p:cNvPr id="14" name="Text 9"/>
          <p:cNvSpPr/>
          <p:nvPr/>
        </p:nvSpPr>
        <p:spPr>
          <a:xfrm>
            <a:off x="3474720" y="3246120"/>
            <a:ext cx="2331720" cy="914400"/>
          </a:xfrm>
          <a:prstGeom prst="rect">
            <a:avLst/>
          </a:prstGeom>
          <a:noFill/>
          <a:ln/>
        </p:spPr>
        <p:txBody>
          <a:bodyPr wrap="square" lIns="0" tIns="0" rIns="0" bIns="0" rtlCol="0" anchor="ctr"/>
          <a:lstStyle/>
          <a:p>
            <a:pPr algn="ctr" indent="0" marL="0">
              <a:buNone/>
            </a:pPr>
            <a:r>
              <a:rPr lang="en-US" sz="1200" dirty="0">
                <a:solidFill>
                  <a:srgbClr val="636E72"/>
                </a:solidFill>
                <a:latin typeface="Calibri" pitchFamily="34" charset="0"/>
                <a:ea typeface="Calibri" pitchFamily="34" charset="-122"/>
                <a:cs typeface="Calibri" pitchFamily="34" charset="-120"/>
              </a:rPr>
              <a:t>攻め・バランス・堅実</a:t>
            </a:r>
            <a:endParaRPr lang="en-US" sz="1200" dirty="0"/>
          </a:p>
          <a:p>
            <a:pPr algn="ctr" indent="0" marL="0">
              <a:buNone/>
            </a:pPr>
            <a:r>
              <a:rPr lang="en-US" sz="1200" dirty="0">
                <a:solidFill>
                  <a:srgbClr val="636E72"/>
                </a:solidFill>
                <a:latin typeface="Calibri" pitchFamily="34" charset="0"/>
                <a:ea typeface="Calibri" pitchFamily="34" charset="-122"/>
                <a:cs typeface="Calibri" pitchFamily="34" charset="-120"/>
              </a:rPr>
              <a:t>の3パターンを自動生成</a:t>
            </a:r>
            <a:endParaRPr lang="en-US" sz="1200" dirty="0"/>
          </a:p>
        </p:txBody>
      </p:sp>
      <p:pic>
        <p:nvPicPr>
          <p:cNvPr id="15" name="Image 3" descr="preencoded.png"/>
          <p:cNvPicPr>
            <a:picLocks noChangeAspect="1"/>
          </p:cNvPicPr>
          <p:nvPr/>
        </p:nvPicPr>
        <p:blipFill>
          <a:blip r:embed="rId4"/>
          <a:stretch>
            <a:fillRect/>
          </a:stretch>
        </p:blipFill>
        <p:spPr>
          <a:xfrm>
            <a:off x="5989320" y="2560320"/>
            <a:ext cx="320040" cy="320040"/>
          </a:xfrm>
          <a:prstGeom prst="rect">
            <a:avLst/>
          </a:prstGeom>
        </p:spPr>
      </p:pic>
      <p:sp>
        <p:nvSpPr>
          <p:cNvPr id="16" name="Shape 10"/>
          <p:cNvSpPr/>
          <p:nvPr/>
        </p:nvSpPr>
        <p:spPr>
          <a:xfrm>
            <a:off x="6217920" y="1097280"/>
            <a:ext cx="2606040" cy="347472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7" name="Shape 11"/>
          <p:cNvSpPr/>
          <p:nvPr/>
        </p:nvSpPr>
        <p:spPr>
          <a:xfrm>
            <a:off x="7063740" y="1371600"/>
            <a:ext cx="914400" cy="914400"/>
          </a:xfrm>
          <a:prstGeom prst="ellipse">
            <a:avLst/>
          </a:prstGeom>
          <a:solidFill>
            <a:srgbClr val="F39C12"/>
          </a:solidFill>
          <a:ln/>
        </p:spPr>
      </p:sp>
      <p:pic>
        <p:nvPicPr>
          <p:cNvPr id="18" name="Image 4" descr="preencoded.png"/>
          <p:cNvPicPr>
            <a:picLocks noChangeAspect="1"/>
          </p:cNvPicPr>
          <p:nvPr/>
        </p:nvPicPr>
        <p:blipFill>
          <a:blip r:embed="rId5"/>
          <a:stretch>
            <a:fillRect/>
          </a:stretch>
        </p:blipFill>
        <p:spPr>
          <a:xfrm>
            <a:off x="7269480" y="1572768"/>
            <a:ext cx="502920" cy="502920"/>
          </a:xfrm>
          <a:prstGeom prst="rect">
            <a:avLst/>
          </a:prstGeom>
        </p:spPr>
      </p:pic>
      <p:sp>
        <p:nvSpPr>
          <p:cNvPr id="19" name="Text 12"/>
          <p:cNvSpPr/>
          <p:nvPr/>
        </p:nvSpPr>
        <p:spPr>
          <a:xfrm>
            <a:off x="6355080" y="2468880"/>
            <a:ext cx="2331720" cy="731520"/>
          </a:xfrm>
          <a:prstGeom prst="rect">
            <a:avLst/>
          </a:prstGeom>
          <a:noFill/>
          <a:ln/>
        </p:spPr>
        <p:txBody>
          <a:bodyPr wrap="square" lIns="0" tIns="0" rIns="0" bIns="0" rtlCol="0" anchor="ctr"/>
          <a:lstStyle/>
          <a:p>
            <a:pPr algn="ctr" indent="0" marL="0">
              <a:buNone/>
            </a:pPr>
            <a:r>
              <a:rPr lang="en-US" sz="1600" b="1" dirty="0">
                <a:solidFill>
                  <a:srgbClr val="2D3436"/>
                </a:solidFill>
                <a:latin typeface="Calibri" pitchFamily="34" charset="0"/>
                <a:ea typeface="Calibri" pitchFamily="34" charset="-122"/>
                <a:cs typeface="Calibri" pitchFamily="34" charset="-120"/>
              </a:rPr>
              <a:t>保存・共有</a:t>
            </a:r>
            <a:endParaRPr lang="en-US" sz="1600" dirty="0"/>
          </a:p>
        </p:txBody>
      </p:sp>
      <p:sp>
        <p:nvSpPr>
          <p:cNvPr id="20" name="Text 13"/>
          <p:cNvSpPr/>
          <p:nvPr/>
        </p:nvSpPr>
        <p:spPr>
          <a:xfrm>
            <a:off x="6355080" y="3246120"/>
            <a:ext cx="2331720" cy="914400"/>
          </a:xfrm>
          <a:prstGeom prst="rect">
            <a:avLst/>
          </a:prstGeom>
          <a:noFill/>
          <a:ln/>
        </p:spPr>
        <p:txBody>
          <a:bodyPr wrap="square" lIns="0" tIns="0" rIns="0" bIns="0" rtlCol="0" anchor="ctr"/>
          <a:lstStyle/>
          <a:p>
            <a:pPr algn="ctr" indent="0" marL="0">
              <a:buNone/>
            </a:pPr>
            <a:r>
              <a:rPr lang="en-US" sz="1200" dirty="0">
                <a:solidFill>
                  <a:srgbClr val="636E72"/>
                </a:solidFill>
                <a:latin typeface="Calibri" pitchFamily="34" charset="0"/>
                <a:ea typeface="Calibri" pitchFamily="34" charset="-122"/>
                <a:cs typeface="Calibri" pitchFamily="34" charset="-120"/>
              </a:rPr>
              <a:t>結果をHTMLで保存</a:t>
            </a:r>
            <a:endParaRPr lang="en-US" sz="1200" dirty="0"/>
          </a:p>
          <a:p>
            <a:pPr algn="ctr" indent="0" marL="0">
              <a:buNone/>
            </a:pPr>
            <a:r>
              <a:rPr lang="en-US" sz="1200" dirty="0">
                <a:solidFill>
                  <a:srgbClr val="636E72"/>
                </a:solidFill>
                <a:latin typeface="Calibri" pitchFamily="34" charset="0"/>
                <a:ea typeface="Calibri" pitchFamily="34" charset="-122"/>
                <a:cs typeface="Calibri" pitchFamily="34" charset="-120"/>
              </a:rPr>
              <a:t>家族にLINEで共有も</a:t>
            </a:r>
            <a:endParaRPr lang="en-US" sz="1200" dirty="0"/>
          </a:p>
        </p:txBody>
      </p:sp>
      <p:sp>
        <p:nvSpPr>
          <p:cNvPr id="21" name="Shape 14"/>
          <p:cNvSpPr/>
          <p:nvPr/>
        </p:nvSpPr>
        <p:spPr>
          <a:xfrm>
            <a:off x="457200" y="4709160"/>
            <a:ext cx="8229600" cy="320040"/>
          </a:xfrm>
          <a:prstGeom prst="rect">
            <a:avLst/>
          </a:prstGeom>
          <a:solidFill>
            <a:srgbClr val="2C3E50"/>
          </a:solidFill>
          <a:ln/>
        </p:spPr>
      </p:sp>
      <p:sp>
        <p:nvSpPr>
          <p:cNvPr id="22" name="Text 15"/>
          <p:cNvSpPr/>
          <p:nvPr/>
        </p:nvSpPr>
        <p:spPr>
          <a:xfrm>
            <a:off x="457200" y="4709160"/>
            <a:ext cx="8229600" cy="3200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スマホ・パソコンどちらからでもブラウザだけで使えるウェブツールです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3E50"/>
          </a:solidFill>
          <a:ln/>
        </p:spPr>
      </p:sp>
      <p:sp>
        <p:nvSpPr>
          <p:cNvPr id="3" name="Text 1"/>
          <p:cNvSpPr/>
          <p:nvPr/>
        </p:nvSpPr>
        <p:spPr>
          <a:xfrm>
            <a:off x="548640" y="73152"/>
            <a:ext cx="1097280" cy="320040"/>
          </a:xfrm>
          <a:prstGeom prst="rect">
            <a:avLst/>
          </a:prstGeom>
          <a:noFill/>
          <a:ln/>
        </p:spPr>
        <p:txBody>
          <a:bodyPr wrap="square" lIns="0" tIns="0" rIns="0" bIns="0" rtlCol="0" anchor="ctr"/>
          <a:lstStyle/>
          <a:p>
            <a:pPr indent="0" marL="0">
              <a:buNone/>
            </a:pPr>
            <a:r>
              <a:rPr lang="en-US" sz="1200" b="1" dirty="0">
                <a:solidFill>
                  <a:srgbClr val="3498DB"/>
                </a:solidFill>
                <a:latin typeface="Calibri" pitchFamily="34" charset="0"/>
                <a:ea typeface="Calibri" pitchFamily="34" charset="-122"/>
                <a:cs typeface="Calibri" pitchFamily="34" charset="-120"/>
              </a:rPr>
              <a:t>STEP 1</a:t>
            </a:r>
            <a:endParaRPr lang="en-US" sz="1200" dirty="0"/>
          </a:p>
        </p:txBody>
      </p:sp>
      <p:sp>
        <p:nvSpPr>
          <p:cNvPr id="4" name="Text 2"/>
          <p:cNvSpPr/>
          <p:nvPr/>
        </p:nvSpPr>
        <p:spPr>
          <a:xfrm>
            <a:off x="548640" y="320040"/>
            <a:ext cx="54864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ツールへのアクセス方法</a:t>
            </a:r>
            <a:endParaRPr lang="en-US" sz="2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indent="0" marL="0">
              <a:buNone/>
            </a:pPr>
            <a:r>
              <a:rPr lang="en-US" sz="1300" dirty="0">
                <a:solidFill>
                  <a:srgbClr val="636E72"/>
                </a:solidFill>
                <a:latin typeface="Calibri" pitchFamily="34" charset="0"/>
                <a:ea typeface="Calibri" pitchFamily="34" charset="-122"/>
                <a:cs typeface="Calibri" pitchFamily="34" charset="-120"/>
              </a:rPr>
              <a:t>スマホ（iPhone / Android）でもパソコンでも、ブラウザからアクセスできます。</a:t>
            </a:r>
            <a:endParaRPr lang="en-US" sz="1300" dirty="0"/>
          </a:p>
        </p:txBody>
      </p:sp>
      <p:sp>
        <p:nvSpPr>
          <p:cNvPr id="6" name="Shape 4"/>
          <p:cNvSpPr/>
          <p:nvPr/>
        </p:nvSpPr>
        <p:spPr>
          <a:xfrm>
            <a:off x="457200" y="1554480"/>
            <a:ext cx="2606040" cy="2377440"/>
          </a:xfrm>
          <a:prstGeom prst="rect">
            <a:avLst/>
          </a:prstGeom>
          <a:solidFill>
            <a:srgbClr val="F0F4F8"/>
          </a:solidFill>
          <a:ln/>
          <a:effectLst>
            <a:outerShdw sx="100000" sy="100000" kx="0" ky="0" algn="bl" rotWithShape="0" blurRad="101600" dist="25400" dir="8100000">
              <a:srgbClr val="000000">
                <a:alpha val="10000"/>
              </a:srgbClr>
            </a:outerShdw>
          </a:effectLst>
        </p:spPr>
      </p:sp>
      <p:sp>
        <p:nvSpPr>
          <p:cNvPr id="7" name="Shape 5"/>
          <p:cNvSpPr/>
          <p:nvPr/>
        </p:nvSpPr>
        <p:spPr>
          <a:xfrm>
            <a:off x="1303020" y="1737360"/>
            <a:ext cx="914400" cy="914400"/>
          </a:xfrm>
          <a:prstGeom prst="ellipse">
            <a:avLst/>
          </a:prstGeom>
          <a:solidFill>
            <a:srgbClr val="3498DB"/>
          </a:solidFill>
          <a:ln/>
        </p:spPr>
      </p:sp>
      <p:sp>
        <p:nvSpPr>
          <p:cNvPr id="8" name="Text 6"/>
          <p:cNvSpPr/>
          <p:nvPr/>
        </p:nvSpPr>
        <p:spPr>
          <a:xfrm>
            <a:off x="1303020" y="17373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9" name="Text 7"/>
          <p:cNvSpPr/>
          <p:nvPr/>
        </p:nvSpPr>
        <p:spPr>
          <a:xfrm>
            <a:off x="594360" y="2788920"/>
            <a:ext cx="2331720" cy="411480"/>
          </a:xfrm>
          <a:prstGeom prst="rect">
            <a:avLst/>
          </a:prstGeom>
          <a:noFill/>
          <a:ln/>
        </p:spPr>
        <p:txBody>
          <a:bodyPr wrap="square" lIns="0" tIns="0" rIns="0" bIns="0" rtlCol="0" anchor="ctr"/>
          <a:lstStyle/>
          <a:p>
            <a:pPr algn="ctr" indent="0" marL="0">
              <a:buNone/>
            </a:pPr>
            <a:r>
              <a:rPr lang="en-US" sz="1500" b="1" dirty="0">
                <a:solidFill>
                  <a:srgbClr val="2D3436"/>
                </a:solidFill>
                <a:latin typeface="Calibri" pitchFamily="34" charset="0"/>
                <a:ea typeface="Calibri" pitchFamily="34" charset="-122"/>
                <a:cs typeface="Calibri" pitchFamily="34" charset="-120"/>
              </a:rPr>
              <a:t>noteの有料記事を購入</a:t>
            </a:r>
            <a:endParaRPr lang="en-US" sz="1500" dirty="0"/>
          </a:p>
        </p:txBody>
      </p:sp>
      <p:sp>
        <p:nvSpPr>
          <p:cNvPr id="10" name="Text 8"/>
          <p:cNvSpPr/>
          <p:nvPr/>
        </p:nvSpPr>
        <p:spPr>
          <a:xfrm>
            <a:off x="594360" y="3246120"/>
            <a:ext cx="2331720" cy="594360"/>
          </a:xfrm>
          <a:prstGeom prst="rect">
            <a:avLst/>
          </a:prstGeom>
          <a:noFill/>
          <a:ln/>
        </p:spPr>
        <p:txBody>
          <a:bodyPr wrap="square" lIns="0" tIns="0" rIns="0" bIns="0" rtlCol="0" anchor="ctr"/>
          <a:lstStyle/>
          <a:p>
            <a:pPr algn="ctr" indent="0" marL="0">
              <a:buNone/>
            </a:pPr>
            <a:r>
              <a:rPr lang="en-US" sz="1100" dirty="0">
                <a:solidFill>
                  <a:srgbClr val="636E72"/>
                </a:solidFill>
                <a:latin typeface="Calibri" pitchFamily="34" charset="0"/>
                <a:ea typeface="Calibri" pitchFamily="34" charset="-122"/>
                <a:cs typeface="Calibri" pitchFamily="34" charset="-120"/>
              </a:rPr>
              <a:t>記事内にツールへのリンクと</a:t>
            </a:r>
            <a:endParaRPr lang="en-US" sz="1100" dirty="0"/>
          </a:p>
          <a:p>
            <a:pPr algn="ctr" indent="0" marL="0">
              <a:buNone/>
            </a:pPr>
            <a:r>
              <a:rPr lang="en-US" sz="1100" dirty="0">
                <a:solidFill>
                  <a:srgbClr val="636E72"/>
                </a:solidFill>
                <a:latin typeface="Calibri" pitchFamily="34" charset="0"/>
                <a:ea typeface="Calibri" pitchFamily="34" charset="-122"/>
                <a:cs typeface="Calibri" pitchFamily="34" charset="-120"/>
              </a:rPr>
              <a:t>パスワードが記載されています</a:t>
            </a:r>
            <a:endParaRPr lang="en-US" sz="1100" dirty="0"/>
          </a:p>
        </p:txBody>
      </p:sp>
      <p:pic>
        <p:nvPicPr>
          <p:cNvPr id="11" name="Image 0" descr="preencoded.png"/>
          <p:cNvPicPr>
            <a:picLocks noChangeAspect="1"/>
          </p:cNvPicPr>
          <p:nvPr/>
        </p:nvPicPr>
        <p:blipFill>
          <a:blip r:embed="rId1"/>
          <a:stretch>
            <a:fillRect/>
          </a:stretch>
        </p:blipFill>
        <p:spPr>
          <a:xfrm>
            <a:off x="3108960" y="2468880"/>
            <a:ext cx="320040" cy="320040"/>
          </a:xfrm>
          <a:prstGeom prst="rect">
            <a:avLst/>
          </a:prstGeom>
        </p:spPr>
      </p:pic>
      <p:sp>
        <p:nvSpPr>
          <p:cNvPr id="12" name="Shape 9"/>
          <p:cNvSpPr/>
          <p:nvPr/>
        </p:nvSpPr>
        <p:spPr>
          <a:xfrm>
            <a:off x="3337560" y="1554480"/>
            <a:ext cx="2606040" cy="2377440"/>
          </a:xfrm>
          <a:prstGeom prst="rect">
            <a:avLst/>
          </a:prstGeom>
          <a:solidFill>
            <a:srgbClr val="F0F4F8"/>
          </a:solidFill>
          <a:ln/>
          <a:effectLst>
            <a:outerShdw sx="100000" sy="100000" kx="0" ky="0" algn="bl" rotWithShape="0" blurRad="101600" dist="25400" dir="8100000">
              <a:srgbClr val="000000">
                <a:alpha val="10000"/>
              </a:srgbClr>
            </a:outerShdw>
          </a:effectLst>
        </p:spPr>
      </p:sp>
      <p:sp>
        <p:nvSpPr>
          <p:cNvPr id="13" name="Shape 10"/>
          <p:cNvSpPr/>
          <p:nvPr/>
        </p:nvSpPr>
        <p:spPr>
          <a:xfrm>
            <a:off x="4183380" y="1737360"/>
            <a:ext cx="914400" cy="914400"/>
          </a:xfrm>
          <a:prstGeom prst="ellipse">
            <a:avLst/>
          </a:prstGeom>
          <a:solidFill>
            <a:srgbClr val="3498DB"/>
          </a:solidFill>
          <a:ln/>
        </p:spPr>
      </p:sp>
      <p:sp>
        <p:nvSpPr>
          <p:cNvPr id="14" name="Text 11"/>
          <p:cNvSpPr/>
          <p:nvPr/>
        </p:nvSpPr>
        <p:spPr>
          <a:xfrm>
            <a:off x="4183380" y="17373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15" name="Text 12"/>
          <p:cNvSpPr/>
          <p:nvPr/>
        </p:nvSpPr>
        <p:spPr>
          <a:xfrm>
            <a:off x="3474720" y="2788920"/>
            <a:ext cx="2331720" cy="411480"/>
          </a:xfrm>
          <a:prstGeom prst="rect">
            <a:avLst/>
          </a:prstGeom>
          <a:noFill/>
          <a:ln/>
        </p:spPr>
        <p:txBody>
          <a:bodyPr wrap="square" lIns="0" tIns="0" rIns="0" bIns="0" rtlCol="0" anchor="ctr"/>
          <a:lstStyle/>
          <a:p>
            <a:pPr algn="ctr" indent="0" marL="0">
              <a:buNone/>
            </a:pPr>
            <a:r>
              <a:rPr lang="en-US" sz="1500" b="1" dirty="0">
                <a:solidFill>
                  <a:srgbClr val="2D3436"/>
                </a:solidFill>
                <a:latin typeface="Calibri" pitchFamily="34" charset="0"/>
                <a:ea typeface="Calibri" pitchFamily="34" charset="-122"/>
                <a:cs typeface="Calibri" pitchFamily="34" charset="-120"/>
              </a:rPr>
              <a:t>リンクをタップ</a:t>
            </a:r>
            <a:endParaRPr lang="en-US" sz="1500" dirty="0"/>
          </a:p>
        </p:txBody>
      </p:sp>
      <p:sp>
        <p:nvSpPr>
          <p:cNvPr id="16" name="Text 13"/>
          <p:cNvSpPr/>
          <p:nvPr/>
        </p:nvSpPr>
        <p:spPr>
          <a:xfrm>
            <a:off x="3474720" y="3246120"/>
            <a:ext cx="2331720" cy="594360"/>
          </a:xfrm>
          <a:prstGeom prst="rect">
            <a:avLst/>
          </a:prstGeom>
          <a:noFill/>
          <a:ln/>
        </p:spPr>
        <p:txBody>
          <a:bodyPr wrap="square" lIns="0" tIns="0" rIns="0" bIns="0" rtlCol="0" anchor="ctr"/>
          <a:lstStyle/>
          <a:p>
            <a:pPr algn="ctr" indent="0" marL="0">
              <a:buNone/>
            </a:pPr>
            <a:r>
              <a:rPr lang="en-US" sz="1100" dirty="0">
                <a:solidFill>
                  <a:srgbClr val="636E72"/>
                </a:solidFill>
                <a:latin typeface="Calibri" pitchFamily="34" charset="0"/>
                <a:ea typeface="Calibri" pitchFamily="34" charset="-122"/>
                <a:cs typeface="Calibri" pitchFamily="34" charset="-120"/>
              </a:rPr>
              <a:t>記事内のリンクをタップすると</a:t>
            </a:r>
            <a:endParaRPr lang="en-US" sz="1100" dirty="0"/>
          </a:p>
          <a:p>
            <a:pPr algn="ctr" indent="0" marL="0">
              <a:buNone/>
            </a:pPr>
            <a:r>
              <a:rPr lang="en-US" sz="1100" dirty="0">
                <a:solidFill>
                  <a:srgbClr val="636E72"/>
                </a:solidFill>
                <a:latin typeface="Calibri" pitchFamily="34" charset="0"/>
                <a:ea typeface="Calibri" pitchFamily="34" charset="-122"/>
                <a:cs typeface="Calibri" pitchFamily="34" charset="-120"/>
              </a:rPr>
              <a:t>パスワード入力画面が開きます</a:t>
            </a:r>
            <a:endParaRPr lang="en-US" sz="1100" dirty="0"/>
          </a:p>
        </p:txBody>
      </p:sp>
      <p:pic>
        <p:nvPicPr>
          <p:cNvPr id="17" name="Image 1" descr="preencoded.png"/>
          <p:cNvPicPr>
            <a:picLocks noChangeAspect="1"/>
          </p:cNvPicPr>
          <p:nvPr/>
        </p:nvPicPr>
        <p:blipFill>
          <a:blip r:embed="rId2"/>
          <a:stretch>
            <a:fillRect/>
          </a:stretch>
        </p:blipFill>
        <p:spPr>
          <a:xfrm>
            <a:off x="5989320" y="2468880"/>
            <a:ext cx="320040" cy="320040"/>
          </a:xfrm>
          <a:prstGeom prst="rect">
            <a:avLst/>
          </a:prstGeom>
        </p:spPr>
      </p:pic>
      <p:sp>
        <p:nvSpPr>
          <p:cNvPr id="18" name="Shape 14"/>
          <p:cNvSpPr/>
          <p:nvPr/>
        </p:nvSpPr>
        <p:spPr>
          <a:xfrm>
            <a:off x="6217920" y="1554480"/>
            <a:ext cx="2606040" cy="2377440"/>
          </a:xfrm>
          <a:prstGeom prst="rect">
            <a:avLst/>
          </a:prstGeom>
          <a:solidFill>
            <a:srgbClr val="F0F4F8"/>
          </a:solidFill>
          <a:ln/>
          <a:effectLst>
            <a:outerShdw sx="100000" sy="100000" kx="0" ky="0" algn="bl" rotWithShape="0" blurRad="101600" dist="25400" dir="8100000">
              <a:srgbClr val="000000">
                <a:alpha val="10000"/>
              </a:srgbClr>
            </a:outerShdw>
          </a:effectLst>
        </p:spPr>
      </p:sp>
      <p:sp>
        <p:nvSpPr>
          <p:cNvPr id="19" name="Shape 15"/>
          <p:cNvSpPr/>
          <p:nvPr/>
        </p:nvSpPr>
        <p:spPr>
          <a:xfrm>
            <a:off x="7063740" y="1737360"/>
            <a:ext cx="914400" cy="914400"/>
          </a:xfrm>
          <a:prstGeom prst="ellipse">
            <a:avLst/>
          </a:prstGeom>
          <a:solidFill>
            <a:srgbClr val="27AE60"/>
          </a:solidFill>
          <a:ln/>
        </p:spPr>
      </p:sp>
      <p:sp>
        <p:nvSpPr>
          <p:cNvPr id="20" name="Text 16"/>
          <p:cNvSpPr/>
          <p:nvPr/>
        </p:nvSpPr>
        <p:spPr>
          <a:xfrm>
            <a:off x="7063740" y="173736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21" name="Text 17"/>
          <p:cNvSpPr/>
          <p:nvPr/>
        </p:nvSpPr>
        <p:spPr>
          <a:xfrm>
            <a:off x="6355080" y="2788920"/>
            <a:ext cx="2331720" cy="411480"/>
          </a:xfrm>
          <a:prstGeom prst="rect">
            <a:avLst/>
          </a:prstGeom>
          <a:noFill/>
          <a:ln/>
        </p:spPr>
        <p:txBody>
          <a:bodyPr wrap="square" lIns="0" tIns="0" rIns="0" bIns="0" rtlCol="0" anchor="ctr"/>
          <a:lstStyle/>
          <a:p>
            <a:pPr algn="ctr" indent="0" marL="0">
              <a:buNone/>
            </a:pPr>
            <a:r>
              <a:rPr lang="en-US" sz="1500" b="1" dirty="0">
                <a:solidFill>
                  <a:srgbClr val="2D3436"/>
                </a:solidFill>
                <a:latin typeface="Calibri" pitchFamily="34" charset="0"/>
                <a:ea typeface="Calibri" pitchFamily="34" charset="-122"/>
                <a:cs typeface="Calibri" pitchFamily="34" charset="-120"/>
              </a:rPr>
              <a:t>パスワードを入力</a:t>
            </a:r>
            <a:endParaRPr lang="en-US" sz="1500" dirty="0"/>
          </a:p>
        </p:txBody>
      </p:sp>
      <p:sp>
        <p:nvSpPr>
          <p:cNvPr id="22" name="Text 18"/>
          <p:cNvSpPr/>
          <p:nvPr/>
        </p:nvSpPr>
        <p:spPr>
          <a:xfrm>
            <a:off x="6355080" y="3246120"/>
            <a:ext cx="2331720" cy="594360"/>
          </a:xfrm>
          <a:prstGeom prst="rect">
            <a:avLst/>
          </a:prstGeom>
          <a:noFill/>
          <a:ln/>
        </p:spPr>
        <p:txBody>
          <a:bodyPr wrap="square" lIns="0" tIns="0" rIns="0" bIns="0" rtlCol="0" anchor="ctr"/>
          <a:lstStyle/>
          <a:p>
            <a:pPr algn="ctr" indent="0" marL="0">
              <a:buNone/>
            </a:pPr>
            <a:r>
              <a:rPr lang="en-US" sz="1100" dirty="0">
                <a:solidFill>
                  <a:srgbClr val="636E72"/>
                </a:solidFill>
                <a:latin typeface="Calibri" pitchFamily="34" charset="0"/>
                <a:ea typeface="Calibri" pitchFamily="34" charset="-122"/>
                <a:cs typeface="Calibri" pitchFamily="34" charset="-120"/>
              </a:rPr>
              <a:t>記事に記載のパスワードを入力</a:t>
            </a:r>
            <a:endParaRPr lang="en-US" sz="1100" dirty="0"/>
          </a:p>
          <a:p>
            <a:pPr algn="ctr" indent="0" marL="0">
              <a:buNone/>
            </a:pPr>
            <a:r>
              <a:rPr lang="en-US" sz="1100" dirty="0">
                <a:solidFill>
                  <a:srgbClr val="636E72"/>
                </a:solidFill>
                <a:latin typeface="Calibri" pitchFamily="34" charset="0"/>
                <a:ea typeface="Calibri" pitchFamily="34" charset="-122"/>
                <a:cs typeface="Calibri" pitchFamily="34" charset="-120"/>
              </a:rPr>
              <a:t>→ ツール画面が開きます</a:t>
            </a:r>
            <a:endParaRPr lang="en-US" sz="1100" dirty="0"/>
          </a:p>
        </p:txBody>
      </p:sp>
      <p:sp>
        <p:nvSpPr>
          <p:cNvPr id="23" name="Shape 19"/>
          <p:cNvSpPr/>
          <p:nvPr/>
        </p:nvSpPr>
        <p:spPr>
          <a:xfrm>
            <a:off x="457200" y="4206240"/>
            <a:ext cx="8229600" cy="777240"/>
          </a:xfrm>
          <a:prstGeom prst="rect">
            <a:avLst/>
          </a:prstGeom>
          <a:solidFill>
            <a:srgbClr val="EBF5FB"/>
          </a:solidFill>
          <a:ln/>
          <a:effectLst>
            <a:outerShdw sx="100000" sy="100000" kx="0" ky="0" algn="bl" rotWithShape="0" blurRad="50800" dist="12700" dir="8100000">
              <a:srgbClr val="000000">
                <a:alpha val="8000"/>
              </a:srgbClr>
            </a:outerShdw>
          </a:effectLst>
        </p:spPr>
      </p:sp>
      <p:pic>
        <p:nvPicPr>
          <p:cNvPr id="24" name="Image 2" descr="preencoded.png"/>
          <p:cNvPicPr>
            <a:picLocks noChangeAspect="1"/>
          </p:cNvPicPr>
          <p:nvPr/>
        </p:nvPicPr>
        <p:blipFill>
          <a:blip r:embed="rId3"/>
          <a:stretch>
            <a:fillRect/>
          </a:stretch>
        </p:blipFill>
        <p:spPr>
          <a:xfrm>
            <a:off x="640080" y="4297680"/>
            <a:ext cx="320040" cy="320040"/>
          </a:xfrm>
          <a:prstGeom prst="rect">
            <a:avLst/>
          </a:prstGeom>
        </p:spPr>
      </p:pic>
      <p:sp>
        <p:nvSpPr>
          <p:cNvPr id="25" name="Text 20"/>
          <p:cNvSpPr/>
          <p:nvPr/>
        </p:nvSpPr>
        <p:spPr>
          <a:xfrm>
            <a:off x="1097280" y="4206240"/>
            <a:ext cx="7315200" cy="777240"/>
          </a:xfrm>
          <a:prstGeom prst="rect">
            <a:avLst/>
          </a:prstGeom>
          <a:noFill/>
          <a:ln/>
        </p:spPr>
        <p:txBody>
          <a:bodyPr wrap="square" lIns="0" tIns="0" rIns="0" bIns="0"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ポイント</a:t>
            </a:r>
            <a:endParaRPr lang="en-US" sz="1300" dirty="0"/>
          </a:p>
          <a:p>
            <a:pPr indent="0" marL="0">
              <a:buNone/>
            </a:pPr>
            <a:r>
              <a:rPr lang="en-US" sz="1100" dirty="0">
                <a:solidFill>
                  <a:srgbClr val="636E72"/>
                </a:solidFill>
                <a:latin typeface="Calibri" pitchFamily="34" charset="0"/>
                <a:ea typeface="Calibri" pitchFamily="34" charset="-122"/>
                <a:cs typeface="Calibri" pitchFamily="34" charset="-120"/>
              </a:rPr>
              <a:t>ブックマーク登録しておくと、次回から記事を開かずに直接アクセスできます。パスワードは毎回入力が必要です。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3E50"/>
          </a:solidFill>
          <a:ln/>
        </p:spPr>
      </p:sp>
      <p:sp>
        <p:nvSpPr>
          <p:cNvPr id="3" name="Text 1"/>
          <p:cNvSpPr/>
          <p:nvPr/>
        </p:nvSpPr>
        <p:spPr>
          <a:xfrm>
            <a:off x="548640" y="73152"/>
            <a:ext cx="1097280" cy="320040"/>
          </a:xfrm>
          <a:prstGeom prst="rect">
            <a:avLst/>
          </a:prstGeom>
          <a:noFill/>
          <a:ln/>
        </p:spPr>
        <p:txBody>
          <a:bodyPr wrap="square" lIns="0" tIns="0" rIns="0" bIns="0" rtlCol="0" anchor="ctr"/>
          <a:lstStyle/>
          <a:p>
            <a:pPr indent="0" marL="0">
              <a:buNone/>
            </a:pPr>
            <a:r>
              <a:rPr lang="en-US" sz="1200" b="1" dirty="0">
                <a:solidFill>
                  <a:srgbClr val="3498DB"/>
                </a:solidFill>
                <a:latin typeface="Calibri" pitchFamily="34" charset="0"/>
                <a:ea typeface="Calibri" pitchFamily="34" charset="-122"/>
                <a:cs typeface="Calibri" pitchFamily="34" charset="-120"/>
              </a:rPr>
              <a:t>STEP 2 - テストの種類を選ぶ</a:t>
            </a:r>
            <a:endParaRPr lang="en-US" sz="1200" dirty="0"/>
          </a:p>
        </p:txBody>
      </p:sp>
      <p:sp>
        <p:nvSpPr>
          <p:cNvPr id="4" name="Text 2"/>
          <p:cNvSpPr/>
          <p:nvPr/>
        </p:nvSpPr>
        <p:spPr>
          <a:xfrm>
            <a:off x="548640" y="320040"/>
            <a:ext cx="54864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テストの種類を選択してください</a:t>
            </a:r>
            <a:endParaRPr lang="en-US" sz="2200" dirty="0"/>
          </a:p>
        </p:txBody>
      </p:sp>
      <p:sp>
        <p:nvSpPr>
          <p:cNvPr id="5" name="Shape 3"/>
          <p:cNvSpPr/>
          <p:nvPr/>
        </p:nvSpPr>
        <p:spPr>
          <a:xfrm>
            <a:off x="457200" y="1051560"/>
            <a:ext cx="73152" cy="1097280"/>
          </a:xfrm>
          <a:prstGeom prst="rect">
            <a:avLst/>
          </a:prstGeom>
          <a:solidFill>
            <a:srgbClr val="3498DB"/>
          </a:solidFill>
          <a:ln/>
        </p:spPr>
      </p:sp>
      <p:sp>
        <p:nvSpPr>
          <p:cNvPr id="6" name="Shape 4"/>
          <p:cNvSpPr/>
          <p:nvPr/>
        </p:nvSpPr>
        <p:spPr>
          <a:xfrm>
            <a:off x="530352" y="1051560"/>
            <a:ext cx="3858768" cy="1097280"/>
          </a:xfrm>
          <a:prstGeom prst="rect">
            <a:avLst/>
          </a:prstGeom>
          <a:solidFill>
            <a:srgbClr val="F0F4F8"/>
          </a:solidFill>
          <a:ln/>
        </p:spPr>
      </p:sp>
      <p:sp>
        <p:nvSpPr>
          <p:cNvPr id="7" name="Shape 5"/>
          <p:cNvSpPr/>
          <p:nvPr/>
        </p:nvSpPr>
        <p:spPr>
          <a:xfrm>
            <a:off x="685800" y="1143000"/>
            <a:ext cx="457200" cy="457200"/>
          </a:xfrm>
          <a:prstGeom prst="ellipse">
            <a:avLst/>
          </a:prstGeom>
          <a:solidFill>
            <a:srgbClr val="3498DB"/>
          </a:solidFill>
          <a:ln/>
        </p:spPr>
      </p:sp>
      <p:sp>
        <p:nvSpPr>
          <p:cNvPr id="8" name="Text 6"/>
          <p:cNvSpPr/>
          <p:nvPr/>
        </p:nvSpPr>
        <p:spPr>
          <a:xfrm>
            <a:off x="68580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280160" y="109728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四谷大塚</a:t>
            </a:r>
            <a:endParaRPr lang="en-US" sz="1500" dirty="0"/>
          </a:p>
        </p:txBody>
      </p:sp>
      <p:sp>
        <p:nvSpPr>
          <p:cNvPr id="10" name="Text 8"/>
          <p:cNvSpPr/>
          <p:nvPr/>
        </p:nvSpPr>
        <p:spPr>
          <a:xfrm>
            <a:off x="1280160" y="150876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合不合判定テストの偏差値が利用できます</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合不合判定テスト基準のデータです</a:t>
            </a:r>
            <a:endParaRPr lang="en-US" sz="1100" dirty="0"/>
          </a:p>
        </p:txBody>
      </p:sp>
      <p:sp>
        <p:nvSpPr>
          <p:cNvPr id="11" name="Shape 9"/>
          <p:cNvSpPr/>
          <p:nvPr/>
        </p:nvSpPr>
        <p:spPr>
          <a:xfrm>
            <a:off x="457200" y="2377440"/>
            <a:ext cx="73152" cy="1097280"/>
          </a:xfrm>
          <a:prstGeom prst="rect">
            <a:avLst/>
          </a:prstGeom>
          <a:solidFill>
            <a:srgbClr val="3498DB"/>
          </a:solidFill>
          <a:ln/>
        </p:spPr>
      </p:sp>
      <p:sp>
        <p:nvSpPr>
          <p:cNvPr id="12" name="Shape 10"/>
          <p:cNvSpPr/>
          <p:nvPr/>
        </p:nvSpPr>
        <p:spPr>
          <a:xfrm>
            <a:off x="530352" y="2377440"/>
            <a:ext cx="3858768" cy="1097280"/>
          </a:xfrm>
          <a:prstGeom prst="rect">
            <a:avLst/>
          </a:prstGeom>
          <a:solidFill>
            <a:srgbClr val="F0F4F8"/>
          </a:solidFill>
          <a:ln/>
        </p:spPr>
      </p:sp>
      <p:sp>
        <p:nvSpPr>
          <p:cNvPr id="13" name="Shape 11"/>
          <p:cNvSpPr/>
          <p:nvPr/>
        </p:nvSpPr>
        <p:spPr>
          <a:xfrm>
            <a:off x="685800" y="2468880"/>
            <a:ext cx="457200" cy="457200"/>
          </a:xfrm>
          <a:prstGeom prst="ellipse">
            <a:avLst/>
          </a:prstGeom>
          <a:solidFill>
            <a:srgbClr val="3498DB"/>
          </a:solidFill>
          <a:ln/>
        </p:spPr>
      </p:sp>
      <p:sp>
        <p:nvSpPr>
          <p:cNvPr id="14" name="Text 12"/>
          <p:cNvSpPr/>
          <p:nvPr/>
        </p:nvSpPr>
        <p:spPr>
          <a:xfrm>
            <a:off x="685800" y="2468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42316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首都圏模試</a:t>
            </a:r>
            <a:endParaRPr lang="en-US" sz="1500" dirty="0"/>
          </a:p>
        </p:txBody>
      </p:sp>
      <p:sp>
        <p:nvSpPr>
          <p:cNvPr id="16" name="Text 14"/>
          <p:cNvSpPr/>
          <p:nvPr/>
        </p:nvSpPr>
        <p:spPr>
          <a:xfrm>
            <a:off x="1280160" y="283464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首都圏模試の偏差値が利用できます</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首都圏模試基準のデータです</a:t>
            </a:r>
            <a:endParaRPr lang="en-US" sz="1100" dirty="0"/>
          </a:p>
        </p:txBody>
      </p:sp>
      <p:sp>
        <p:nvSpPr>
          <p:cNvPr id="17" name="Shape 15"/>
          <p:cNvSpPr/>
          <p:nvPr/>
        </p:nvSpPr>
        <p:spPr>
          <a:xfrm>
            <a:off x="457200" y="3703320"/>
            <a:ext cx="73152" cy="1097280"/>
          </a:xfrm>
          <a:prstGeom prst="rect">
            <a:avLst/>
          </a:prstGeom>
          <a:solidFill>
            <a:srgbClr val="3498DB"/>
          </a:solidFill>
          <a:ln/>
        </p:spPr>
      </p:sp>
      <p:sp>
        <p:nvSpPr>
          <p:cNvPr id="18" name="Shape 16"/>
          <p:cNvSpPr/>
          <p:nvPr/>
        </p:nvSpPr>
        <p:spPr>
          <a:xfrm>
            <a:off x="530352" y="3703320"/>
            <a:ext cx="3858768" cy="1097280"/>
          </a:xfrm>
          <a:prstGeom prst="rect">
            <a:avLst/>
          </a:prstGeom>
          <a:solidFill>
            <a:srgbClr val="F0F4F8"/>
          </a:solidFill>
          <a:ln/>
        </p:spPr>
      </p:sp>
      <p:sp>
        <p:nvSpPr>
          <p:cNvPr id="19" name="Shape 17"/>
          <p:cNvSpPr/>
          <p:nvPr/>
        </p:nvSpPr>
        <p:spPr>
          <a:xfrm>
            <a:off x="685800" y="3794760"/>
            <a:ext cx="457200" cy="457200"/>
          </a:xfrm>
          <a:prstGeom prst="ellipse">
            <a:avLst/>
          </a:prstGeom>
          <a:solidFill>
            <a:srgbClr val="3498DB"/>
          </a:solidFill>
          <a:ln/>
        </p:spPr>
      </p:sp>
      <p:sp>
        <p:nvSpPr>
          <p:cNvPr id="20" name="Text 18"/>
          <p:cNvSpPr/>
          <p:nvPr/>
        </p:nvSpPr>
        <p:spPr>
          <a:xfrm>
            <a:off x="68580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1280160" y="374904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日能研</a:t>
            </a:r>
            <a:endParaRPr lang="en-US" sz="1500" dirty="0"/>
          </a:p>
        </p:txBody>
      </p:sp>
      <p:sp>
        <p:nvSpPr>
          <p:cNvPr id="22" name="Text 20"/>
          <p:cNvSpPr/>
          <p:nvPr/>
        </p:nvSpPr>
        <p:spPr>
          <a:xfrm>
            <a:off x="1280160" y="416052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日能研偏差値が利用できます</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日能研基準のデータです</a:t>
            </a:r>
            <a:endParaRPr lang="en-US" sz="1100" dirty="0"/>
          </a:p>
        </p:txBody>
      </p:sp>
      <p:sp>
        <p:nvSpPr>
          <p:cNvPr id="23" name="Shape 21"/>
          <p:cNvSpPr/>
          <p:nvPr/>
        </p:nvSpPr>
        <p:spPr>
          <a:xfrm>
            <a:off x="4754880" y="1051560"/>
            <a:ext cx="73152" cy="1097280"/>
          </a:xfrm>
          <a:prstGeom prst="rect">
            <a:avLst/>
          </a:prstGeom>
          <a:solidFill>
            <a:srgbClr val="3498DB"/>
          </a:solidFill>
          <a:ln/>
        </p:spPr>
      </p:sp>
      <p:sp>
        <p:nvSpPr>
          <p:cNvPr id="24" name="Shape 22"/>
          <p:cNvSpPr/>
          <p:nvPr/>
        </p:nvSpPr>
        <p:spPr>
          <a:xfrm>
            <a:off x="4828032" y="1051560"/>
            <a:ext cx="3858768" cy="1097280"/>
          </a:xfrm>
          <a:prstGeom prst="rect">
            <a:avLst/>
          </a:prstGeom>
          <a:solidFill>
            <a:srgbClr val="F0F4F8"/>
          </a:solidFill>
          <a:ln/>
        </p:spPr>
      </p:sp>
      <p:sp>
        <p:nvSpPr>
          <p:cNvPr id="25" name="Shape 23"/>
          <p:cNvSpPr/>
          <p:nvPr/>
        </p:nvSpPr>
        <p:spPr>
          <a:xfrm>
            <a:off x="4983480" y="1143000"/>
            <a:ext cx="457200" cy="457200"/>
          </a:xfrm>
          <a:prstGeom prst="ellipse">
            <a:avLst/>
          </a:prstGeom>
          <a:solidFill>
            <a:srgbClr val="3498DB"/>
          </a:solidFill>
          <a:ln/>
        </p:spPr>
      </p:sp>
      <p:sp>
        <p:nvSpPr>
          <p:cNvPr id="26" name="Text 24"/>
          <p:cNvSpPr/>
          <p:nvPr/>
        </p:nvSpPr>
        <p:spPr>
          <a:xfrm>
            <a:off x="498348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5577840" y="109728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学校タイプの希望</a:t>
            </a:r>
            <a:endParaRPr lang="en-US" sz="1500" dirty="0"/>
          </a:p>
        </p:txBody>
      </p:sp>
      <p:sp>
        <p:nvSpPr>
          <p:cNvPr id="28" name="Text 26"/>
          <p:cNvSpPr/>
          <p:nvPr/>
        </p:nvSpPr>
        <p:spPr>
          <a:xfrm>
            <a:off x="5577840" y="150876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こだわりなし / 男子校がいい /</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女子校がいい / 共学がいい</a:t>
            </a:r>
            <a:endParaRPr lang="en-US" sz="1100" dirty="0"/>
          </a:p>
        </p:txBody>
      </p:sp>
      <p:sp>
        <p:nvSpPr>
          <p:cNvPr id="29" name="Shape 27"/>
          <p:cNvSpPr/>
          <p:nvPr/>
        </p:nvSpPr>
        <p:spPr>
          <a:xfrm>
            <a:off x="4754880" y="2377440"/>
            <a:ext cx="73152" cy="1097280"/>
          </a:xfrm>
          <a:prstGeom prst="rect">
            <a:avLst/>
          </a:prstGeom>
          <a:solidFill>
            <a:srgbClr val="3498DB"/>
          </a:solidFill>
          <a:ln/>
        </p:spPr>
      </p:sp>
      <p:sp>
        <p:nvSpPr>
          <p:cNvPr id="30" name="Shape 28"/>
          <p:cNvSpPr/>
          <p:nvPr/>
        </p:nvSpPr>
        <p:spPr>
          <a:xfrm>
            <a:off x="4828032" y="2377440"/>
            <a:ext cx="3858768" cy="1097280"/>
          </a:xfrm>
          <a:prstGeom prst="rect">
            <a:avLst/>
          </a:prstGeom>
          <a:solidFill>
            <a:srgbClr val="F0F4F8"/>
          </a:solidFill>
          <a:ln/>
        </p:spPr>
      </p:sp>
      <p:sp>
        <p:nvSpPr>
          <p:cNvPr id="31" name="Shape 29"/>
          <p:cNvSpPr/>
          <p:nvPr/>
        </p:nvSpPr>
        <p:spPr>
          <a:xfrm>
            <a:off x="4983480" y="2468880"/>
            <a:ext cx="457200" cy="457200"/>
          </a:xfrm>
          <a:prstGeom prst="ellipse">
            <a:avLst/>
          </a:prstGeom>
          <a:solidFill>
            <a:srgbClr val="3498DB"/>
          </a:solidFill>
          <a:ln/>
        </p:spPr>
      </p:sp>
      <p:sp>
        <p:nvSpPr>
          <p:cNvPr id="32" name="Text 30"/>
          <p:cNvSpPr/>
          <p:nvPr/>
        </p:nvSpPr>
        <p:spPr>
          <a:xfrm>
            <a:off x="4983480" y="2468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5577840" y="242316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大学付属校の希望</a:t>
            </a:r>
            <a:endParaRPr lang="en-US" sz="1500" dirty="0"/>
          </a:p>
        </p:txBody>
      </p:sp>
      <p:sp>
        <p:nvSpPr>
          <p:cNvPr id="34" name="Text 32"/>
          <p:cNvSpPr/>
          <p:nvPr/>
        </p:nvSpPr>
        <p:spPr>
          <a:xfrm>
            <a:off x="5577840" y="283464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どちらでもいい / 付属がいい /</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付属以外から選択</a:t>
            </a:r>
            <a:endParaRPr lang="en-US" sz="1100" dirty="0"/>
          </a:p>
        </p:txBody>
      </p:sp>
      <p:sp>
        <p:nvSpPr>
          <p:cNvPr id="35" name="Shape 33"/>
          <p:cNvSpPr/>
          <p:nvPr/>
        </p:nvSpPr>
        <p:spPr>
          <a:xfrm>
            <a:off x="4754880" y="3703320"/>
            <a:ext cx="73152" cy="1097280"/>
          </a:xfrm>
          <a:prstGeom prst="rect">
            <a:avLst/>
          </a:prstGeom>
          <a:solidFill>
            <a:srgbClr val="3498DB"/>
          </a:solidFill>
          <a:ln/>
        </p:spPr>
      </p:sp>
      <p:sp>
        <p:nvSpPr>
          <p:cNvPr id="36" name="Shape 34"/>
          <p:cNvSpPr/>
          <p:nvPr/>
        </p:nvSpPr>
        <p:spPr>
          <a:xfrm>
            <a:off x="4828032" y="3703320"/>
            <a:ext cx="3858768" cy="1097280"/>
          </a:xfrm>
          <a:prstGeom prst="rect">
            <a:avLst/>
          </a:prstGeom>
          <a:solidFill>
            <a:srgbClr val="F0F4F8"/>
          </a:solidFill>
          <a:ln/>
        </p:spPr>
      </p:sp>
      <p:sp>
        <p:nvSpPr>
          <p:cNvPr id="37" name="Shape 35"/>
          <p:cNvSpPr/>
          <p:nvPr/>
        </p:nvSpPr>
        <p:spPr>
          <a:xfrm>
            <a:off x="4983480" y="3794760"/>
            <a:ext cx="457200" cy="457200"/>
          </a:xfrm>
          <a:prstGeom prst="ellipse">
            <a:avLst/>
          </a:prstGeom>
          <a:solidFill>
            <a:srgbClr val="3498DB"/>
          </a:solidFill>
          <a:ln/>
        </p:spPr>
      </p:sp>
      <p:sp>
        <p:nvSpPr>
          <p:cNvPr id="38" name="Text 36"/>
          <p:cNvSpPr/>
          <p:nvPr/>
        </p:nvSpPr>
        <p:spPr>
          <a:xfrm>
            <a:off x="498348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9" name="Text 37"/>
          <p:cNvSpPr/>
          <p:nvPr/>
        </p:nvSpPr>
        <p:spPr>
          <a:xfrm>
            <a:off x="5577840" y="374904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1月校の設定</a:t>
            </a:r>
            <a:endParaRPr lang="en-US" sz="1500" dirty="0"/>
          </a:p>
        </p:txBody>
      </p:sp>
      <p:sp>
        <p:nvSpPr>
          <p:cNvPr id="40" name="Text 38"/>
          <p:cNvSpPr/>
          <p:nvPr/>
        </p:nvSpPr>
        <p:spPr>
          <a:xfrm>
            <a:off x="5577840" y="416052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「1月校は地域を限定しない」に</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チェックで埼玉・千葉も提案</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3E50"/>
          </a:solidFill>
          <a:ln/>
        </p:spPr>
      </p:sp>
      <p:sp>
        <p:nvSpPr>
          <p:cNvPr id="3" name="Text 1"/>
          <p:cNvSpPr/>
          <p:nvPr/>
        </p:nvSpPr>
        <p:spPr>
          <a:xfrm>
            <a:off x="548640" y="73152"/>
            <a:ext cx="1097280" cy="320040"/>
          </a:xfrm>
          <a:prstGeom prst="rect">
            <a:avLst/>
          </a:prstGeom>
          <a:noFill/>
          <a:ln/>
        </p:spPr>
        <p:txBody>
          <a:bodyPr wrap="square" lIns="0" tIns="0" rIns="0" bIns="0" rtlCol="0" anchor="ctr"/>
          <a:lstStyle/>
          <a:p>
            <a:pPr indent="0" marL="0">
              <a:buNone/>
            </a:pPr>
            <a:r>
              <a:rPr lang="en-US" sz="1200" b="1" dirty="0">
                <a:solidFill>
                  <a:srgbClr val="3498DB"/>
                </a:solidFill>
                <a:latin typeface="Calibri" pitchFamily="34" charset="0"/>
                <a:ea typeface="Calibri" pitchFamily="34" charset="-122"/>
                <a:cs typeface="Calibri" pitchFamily="34" charset="-120"/>
              </a:rPr>
              <a:t>STEP 2</a:t>
            </a:r>
            <a:endParaRPr lang="en-US" sz="1200" dirty="0"/>
          </a:p>
        </p:txBody>
      </p:sp>
      <p:sp>
        <p:nvSpPr>
          <p:cNvPr id="4" name="Text 2"/>
          <p:cNvSpPr/>
          <p:nvPr/>
        </p:nvSpPr>
        <p:spPr>
          <a:xfrm>
            <a:off x="548640" y="320040"/>
            <a:ext cx="54864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条件を入力する（基本項目）</a:t>
            </a:r>
            <a:endParaRPr lang="en-US" sz="2200" dirty="0"/>
          </a:p>
        </p:txBody>
      </p:sp>
      <p:sp>
        <p:nvSpPr>
          <p:cNvPr id="5" name="Shape 3"/>
          <p:cNvSpPr/>
          <p:nvPr/>
        </p:nvSpPr>
        <p:spPr>
          <a:xfrm>
            <a:off x="457200" y="1051560"/>
            <a:ext cx="73152" cy="1097280"/>
          </a:xfrm>
          <a:prstGeom prst="rect">
            <a:avLst/>
          </a:prstGeom>
          <a:solidFill>
            <a:srgbClr val="3498DB"/>
          </a:solidFill>
          <a:ln/>
        </p:spPr>
      </p:sp>
      <p:sp>
        <p:nvSpPr>
          <p:cNvPr id="6" name="Shape 4"/>
          <p:cNvSpPr/>
          <p:nvPr/>
        </p:nvSpPr>
        <p:spPr>
          <a:xfrm>
            <a:off x="530352" y="1051560"/>
            <a:ext cx="3858768" cy="1097280"/>
          </a:xfrm>
          <a:prstGeom prst="rect">
            <a:avLst/>
          </a:prstGeom>
          <a:solidFill>
            <a:srgbClr val="F0F4F8"/>
          </a:solidFill>
          <a:ln/>
        </p:spPr>
      </p:sp>
      <p:sp>
        <p:nvSpPr>
          <p:cNvPr id="7" name="Shape 5"/>
          <p:cNvSpPr/>
          <p:nvPr/>
        </p:nvSpPr>
        <p:spPr>
          <a:xfrm>
            <a:off x="685800" y="1143000"/>
            <a:ext cx="457200" cy="457200"/>
          </a:xfrm>
          <a:prstGeom prst="ellipse">
            <a:avLst/>
          </a:prstGeom>
          <a:solidFill>
            <a:srgbClr val="3498DB"/>
          </a:solidFill>
          <a:ln/>
        </p:spPr>
      </p:sp>
      <p:sp>
        <p:nvSpPr>
          <p:cNvPr id="8" name="Text 6"/>
          <p:cNvSpPr/>
          <p:nvPr/>
        </p:nvSpPr>
        <p:spPr>
          <a:xfrm>
            <a:off x="68580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280160" y="109728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テストの種類</a:t>
            </a:r>
            <a:endParaRPr lang="en-US" sz="1500" dirty="0"/>
          </a:p>
        </p:txBody>
      </p:sp>
      <p:sp>
        <p:nvSpPr>
          <p:cNvPr id="10" name="Text 8"/>
          <p:cNvSpPr/>
          <p:nvPr/>
        </p:nvSpPr>
        <p:spPr>
          <a:xfrm>
            <a:off x="1280160" y="150876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四谷大塚・首都圏模試・日能研から選択</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 お子さまの模試に合わせて切り替え</a:t>
            </a:r>
            <a:endParaRPr lang="en-US" sz="1100" dirty="0"/>
          </a:p>
        </p:txBody>
      </p:sp>
      <p:sp>
        <p:nvSpPr>
          <p:cNvPr id="11" name="Shape 9"/>
          <p:cNvSpPr/>
          <p:nvPr/>
        </p:nvSpPr>
        <p:spPr>
          <a:xfrm>
            <a:off x="457200" y="2377440"/>
            <a:ext cx="73152" cy="1097280"/>
          </a:xfrm>
          <a:prstGeom prst="rect">
            <a:avLst/>
          </a:prstGeom>
          <a:solidFill>
            <a:srgbClr val="3498DB"/>
          </a:solidFill>
          <a:ln/>
        </p:spPr>
      </p:sp>
      <p:sp>
        <p:nvSpPr>
          <p:cNvPr id="12" name="Shape 10"/>
          <p:cNvSpPr/>
          <p:nvPr/>
        </p:nvSpPr>
        <p:spPr>
          <a:xfrm>
            <a:off x="530352" y="2377440"/>
            <a:ext cx="3858768" cy="1097280"/>
          </a:xfrm>
          <a:prstGeom prst="rect">
            <a:avLst/>
          </a:prstGeom>
          <a:solidFill>
            <a:srgbClr val="F0F4F8"/>
          </a:solidFill>
          <a:ln/>
        </p:spPr>
      </p:sp>
      <p:sp>
        <p:nvSpPr>
          <p:cNvPr id="13" name="Shape 11"/>
          <p:cNvSpPr/>
          <p:nvPr/>
        </p:nvSpPr>
        <p:spPr>
          <a:xfrm>
            <a:off x="685800" y="2468880"/>
            <a:ext cx="457200" cy="457200"/>
          </a:xfrm>
          <a:prstGeom prst="ellipse">
            <a:avLst/>
          </a:prstGeom>
          <a:solidFill>
            <a:srgbClr val="3498DB"/>
          </a:solidFill>
          <a:ln/>
        </p:spPr>
      </p:sp>
      <p:sp>
        <p:nvSpPr>
          <p:cNvPr id="14" name="Text 12"/>
          <p:cNvSpPr/>
          <p:nvPr/>
        </p:nvSpPr>
        <p:spPr>
          <a:xfrm>
            <a:off x="685800" y="2468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280160" y="242316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お子さまの性別</a:t>
            </a:r>
            <a:endParaRPr lang="en-US" sz="1500" dirty="0"/>
          </a:p>
        </p:txBody>
      </p:sp>
      <p:sp>
        <p:nvSpPr>
          <p:cNvPr id="16" name="Text 14"/>
          <p:cNvSpPr/>
          <p:nvPr/>
        </p:nvSpPr>
        <p:spPr>
          <a:xfrm>
            <a:off x="1280160" y="283464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「男子」または「女子」を選択</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 男子校/女子校の表示が切り替わります</a:t>
            </a:r>
            <a:endParaRPr lang="en-US" sz="1100" dirty="0"/>
          </a:p>
        </p:txBody>
      </p:sp>
      <p:sp>
        <p:nvSpPr>
          <p:cNvPr id="17" name="Shape 15"/>
          <p:cNvSpPr/>
          <p:nvPr/>
        </p:nvSpPr>
        <p:spPr>
          <a:xfrm>
            <a:off x="457200" y="3703320"/>
            <a:ext cx="73152" cy="1097280"/>
          </a:xfrm>
          <a:prstGeom prst="rect">
            <a:avLst/>
          </a:prstGeom>
          <a:solidFill>
            <a:srgbClr val="3498DB"/>
          </a:solidFill>
          <a:ln/>
        </p:spPr>
      </p:sp>
      <p:sp>
        <p:nvSpPr>
          <p:cNvPr id="18" name="Shape 16"/>
          <p:cNvSpPr/>
          <p:nvPr/>
        </p:nvSpPr>
        <p:spPr>
          <a:xfrm>
            <a:off x="530352" y="3703320"/>
            <a:ext cx="3858768" cy="1097280"/>
          </a:xfrm>
          <a:prstGeom prst="rect">
            <a:avLst/>
          </a:prstGeom>
          <a:solidFill>
            <a:srgbClr val="F0F4F8"/>
          </a:solidFill>
          <a:ln/>
        </p:spPr>
      </p:sp>
      <p:sp>
        <p:nvSpPr>
          <p:cNvPr id="19" name="Shape 17"/>
          <p:cNvSpPr/>
          <p:nvPr/>
        </p:nvSpPr>
        <p:spPr>
          <a:xfrm>
            <a:off x="685800" y="3794760"/>
            <a:ext cx="457200" cy="457200"/>
          </a:xfrm>
          <a:prstGeom prst="ellipse">
            <a:avLst/>
          </a:prstGeom>
          <a:solidFill>
            <a:srgbClr val="3498DB"/>
          </a:solidFill>
          <a:ln/>
        </p:spPr>
      </p:sp>
      <p:sp>
        <p:nvSpPr>
          <p:cNvPr id="20" name="Text 18"/>
          <p:cNvSpPr/>
          <p:nvPr/>
        </p:nvSpPr>
        <p:spPr>
          <a:xfrm>
            <a:off x="68580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1280160" y="374904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持ち偏差値</a:t>
            </a:r>
            <a:endParaRPr lang="en-US" sz="1500" dirty="0"/>
          </a:p>
        </p:txBody>
      </p:sp>
      <p:sp>
        <p:nvSpPr>
          <p:cNvPr id="22" name="Text 20"/>
          <p:cNvSpPr/>
          <p:nvPr/>
        </p:nvSpPr>
        <p:spPr>
          <a:xfrm>
            <a:off x="1280160" y="416052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選択したテストの偏差値を入力</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 38〜72の中から選択します</a:t>
            </a:r>
            <a:endParaRPr lang="en-US" sz="1100" dirty="0"/>
          </a:p>
        </p:txBody>
      </p:sp>
      <p:sp>
        <p:nvSpPr>
          <p:cNvPr id="23" name="Shape 21"/>
          <p:cNvSpPr/>
          <p:nvPr/>
        </p:nvSpPr>
        <p:spPr>
          <a:xfrm>
            <a:off x="4754880" y="1051560"/>
            <a:ext cx="73152" cy="1097280"/>
          </a:xfrm>
          <a:prstGeom prst="rect">
            <a:avLst/>
          </a:prstGeom>
          <a:solidFill>
            <a:srgbClr val="3498DB"/>
          </a:solidFill>
          <a:ln/>
        </p:spPr>
      </p:sp>
      <p:sp>
        <p:nvSpPr>
          <p:cNvPr id="24" name="Shape 22"/>
          <p:cNvSpPr/>
          <p:nvPr/>
        </p:nvSpPr>
        <p:spPr>
          <a:xfrm>
            <a:off x="4828032" y="1051560"/>
            <a:ext cx="3858768" cy="1097280"/>
          </a:xfrm>
          <a:prstGeom prst="rect">
            <a:avLst/>
          </a:prstGeom>
          <a:solidFill>
            <a:srgbClr val="F0F4F8"/>
          </a:solidFill>
          <a:ln/>
        </p:spPr>
      </p:sp>
      <p:sp>
        <p:nvSpPr>
          <p:cNvPr id="25" name="Shape 23"/>
          <p:cNvSpPr/>
          <p:nvPr/>
        </p:nvSpPr>
        <p:spPr>
          <a:xfrm>
            <a:off x="4983480" y="1143000"/>
            <a:ext cx="457200" cy="457200"/>
          </a:xfrm>
          <a:prstGeom prst="ellipse">
            <a:avLst/>
          </a:prstGeom>
          <a:solidFill>
            <a:srgbClr val="3498DB"/>
          </a:solidFill>
          <a:ln/>
        </p:spPr>
      </p:sp>
      <p:sp>
        <p:nvSpPr>
          <p:cNvPr id="26" name="Text 24"/>
          <p:cNvSpPr/>
          <p:nvPr/>
        </p:nvSpPr>
        <p:spPr>
          <a:xfrm>
            <a:off x="498348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5577840" y="109728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希望エリア</a:t>
            </a:r>
            <a:endParaRPr lang="en-US" sz="1500" dirty="0"/>
          </a:p>
        </p:txBody>
      </p:sp>
      <p:sp>
        <p:nvSpPr>
          <p:cNvPr id="28" name="Text 26"/>
          <p:cNvSpPr/>
          <p:nvPr/>
        </p:nvSpPr>
        <p:spPr>
          <a:xfrm>
            <a:off x="5577840" y="150876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通学可能なエリアを複数選択OK</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 東京23区・多摩・神奈川・埼玉・千葉・茨城</a:t>
            </a:r>
            <a:endParaRPr lang="en-US" sz="1100" dirty="0"/>
          </a:p>
        </p:txBody>
      </p:sp>
      <p:sp>
        <p:nvSpPr>
          <p:cNvPr id="29" name="Shape 27"/>
          <p:cNvSpPr/>
          <p:nvPr/>
        </p:nvSpPr>
        <p:spPr>
          <a:xfrm>
            <a:off x="4754880" y="2377440"/>
            <a:ext cx="73152" cy="1097280"/>
          </a:xfrm>
          <a:prstGeom prst="rect">
            <a:avLst/>
          </a:prstGeom>
          <a:solidFill>
            <a:srgbClr val="3498DB"/>
          </a:solidFill>
          <a:ln/>
        </p:spPr>
      </p:sp>
      <p:sp>
        <p:nvSpPr>
          <p:cNvPr id="30" name="Shape 28"/>
          <p:cNvSpPr/>
          <p:nvPr/>
        </p:nvSpPr>
        <p:spPr>
          <a:xfrm>
            <a:off x="4828032" y="2377440"/>
            <a:ext cx="3858768" cy="1097280"/>
          </a:xfrm>
          <a:prstGeom prst="rect">
            <a:avLst/>
          </a:prstGeom>
          <a:solidFill>
            <a:srgbClr val="F0F4F8"/>
          </a:solidFill>
          <a:ln/>
        </p:spPr>
      </p:sp>
      <p:sp>
        <p:nvSpPr>
          <p:cNvPr id="31" name="Shape 29"/>
          <p:cNvSpPr/>
          <p:nvPr/>
        </p:nvSpPr>
        <p:spPr>
          <a:xfrm>
            <a:off x="4983480" y="2468880"/>
            <a:ext cx="457200" cy="457200"/>
          </a:xfrm>
          <a:prstGeom prst="ellipse">
            <a:avLst/>
          </a:prstGeom>
          <a:solidFill>
            <a:srgbClr val="3498DB"/>
          </a:solidFill>
          <a:ln/>
        </p:spPr>
      </p:sp>
      <p:sp>
        <p:nvSpPr>
          <p:cNvPr id="32" name="Text 30"/>
          <p:cNvSpPr/>
          <p:nvPr/>
        </p:nvSpPr>
        <p:spPr>
          <a:xfrm>
            <a:off x="4983480" y="2468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5577840" y="242316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学校タイプ・大学付属校</a:t>
            </a:r>
            <a:endParaRPr lang="en-US" sz="1500" dirty="0"/>
          </a:p>
        </p:txBody>
      </p:sp>
      <p:sp>
        <p:nvSpPr>
          <p:cNvPr id="34" name="Text 32"/>
          <p:cNvSpPr/>
          <p:nvPr/>
        </p:nvSpPr>
        <p:spPr>
          <a:xfrm>
            <a:off x="5577840" y="283464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こだわりなし/男子校/女子校/共学</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付属がいい/付属以外 から選択</a:t>
            </a:r>
            <a:endParaRPr lang="en-US" sz="1100" dirty="0"/>
          </a:p>
        </p:txBody>
      </p:sp>
      <p:sp>
        <p:nvSpPr>
          <p:cNvPr id="35" name="Shape 33"/>
          <p:cNvSpPr/>
          <p:nvPr/>
        </p:nvSpPr>
        <p:spPr>
          <a:xfrm>
            <a:off x="4754880" y="3703320"/>
            <a:ext cx="73152" cy="1097280"/>
          </a:xfrm>
          <a:prstGeom prst="rect">
            <a:avLst/>
          </a:prstGeom>
          <a:solidFill>
            <a:srgbClr val="3498DB"/>
          </a:solidFill>
          <a:ln/>
        </p:spPr>
      </p:sp>
      <p:sp>
        <p:nvSpPr>
          <p:cNvPr id="36" name="Shape 34"/>
          <p:cNvSpPr/>
          <p:nvPr/>
        </p:nvSpPr>
        <p:spPr>
          <a:xfrm>
            <a:off x="4828032" y="3703320"/>
            <a:ext cx="3858768" cy="1097280"/>
          </a:xfrm>
          <a:prstGeom prst="rect">
            <a:avLst/>
          </a:prstGeom>
          <a:solidFill>
            <a:srgbClr val="F0F4F8"/>
          </a:solidFill>
          <a:ln/>
        </p:spPr>
      </p:sp>
      <p:sp>
        <p:nvSpPr>
          <p:cNvPr id="37" name="Shape 35"/>
          <p:cNvSpPr/>
          <p:nvPr/>
        </p:nvSpPr>
        <p:spPr>
          <a:xfrm>
            <a:off x="4983480" y="3794760"/>
            <a:ext cx="457200" cy="457200"/>
          </a:xfrm>
          <a:prstGeom prst="ellipse">
            <a:avLst/>
          </a:prstGeom>
          <a:solidFill>
            <a:srgbClr val="3498DB"/>
          </a:solidFill>
          <a:ln/>
        </p:spPr>
      </p:sp>
      <p:sp>
        <p:nvSpPr>
          <p:cNvPr id="38" name="Text 36"/>
          <p:cNvSpPr/>
          <p:nvPr/>
        </p:nvSpPr>
        <p:spPr>
          <a:xfrm>
            <a:off x="498348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9" name="Text 37"/>
          <p:cNvSpPr/>
          <p:nvPr/>
        </p:nvSpPr>
        <p:spPr>
          <a:xfrm>
            <a:off x="5577840" y="3749040"/>
            <a:ext cx="292608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1月校の設定</a:t>
            </a:r>
            <a:endParaRPr lang="en-US" sz="1500" dirty="0"/>
          </a:p>
        </p:txBody>
      </p:sp>
      <p:sp>
        <p:nvSpPr>
          <p:cNvPr id="40" name="Text 38"/>
          <p:cNvSpPr/>
          <p:nvPr/>
        </p:nvSpPr>
        <p:spPr>
          <a:xfrm>
            <a:off x="5577840" y="4160520"/>
            <a:ext cx="2926080" cy="5943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「1月校は地域を限定しない」に</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チェックで埼玉・千葉も提案</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3E50"/>
          </a:solidFill>
          <a:ln/>
        </p:spPr>
      </p:sp>
      <p:sp>
        <p:nvSpPr>
          <p:cNvPr id="3" name="Text 1"/>
          <p:cNvSpPr/>
          <p:nvPr/>
        </p:nvSpPr>
        <p:spPr>
          <a:xfrm>
            <a:off x="548640" y="73152"/>
            <a:ext cx="1097280" cy="320040"/>
          </a:xfrm>
          <a:prstGeom prst="rect">
            <a:avLst/>
          </a:prstGeom>
          <a:noFill/>
          <a:ln/>
        </p:spPr>
        <p:txBody>
          <a:bodyPr wrap="square" lIns="0" tIns="0" rIns="0" bIns="0" rtlCol="0" anchor="ctr"/>
          <a:lstStyle/>
          <a:p>
            <a:pPr indent="0" marL="0">
              <a:buNone/>
            </a:pPr>
            <a:r>
              <a:rPr lang="en-US" sz="1200" b="1" dirty="0">
                <a:solidFill>
                  <a:srgbClr val="3498DB"/>
                </a:solidFill>
                <a:latin typeface="Calibri" pitchFamily="34" charset="0"/>
                <a:ea typeface="Calibri" pitchFamily="34" charset="-122"/>
                <a:cs typeface="Calibri" pitchFamily="34" charset="-120"/>
              </a:rPr>
              <a:t>STEP 2</a:t>
            </a:r>
            <a:endParaRPr lang="en-US" sz="1200" dirty="0"/>
          </a:p>
        </p:txBody>
      </p:sp>
      <p:sp>
        <p:nvSpPr>
          <p:cNvPr id="4" name="Text 2"/>
          <p:cNvSpPr/>
          <p:nvPr/>
        </p:nvSpPr>
        <p:spPr>
          <a:xfrm>
            <a:off x="548640" y="320040"/>
            <a:ext cx="54864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条件を入力する（オプション項目）</a:t>
            </a:r>
            <a:endParaRPr lang="en-US" sz="2200" dirty="0"/>
          </a:p>
        </p:txBody>
      </p:sp>
      <p:sp>
        <p:nvSpPr>
          <p:cNvPr id="5" name="Shape 3"/>
          <p:cNvSpPr/>
          <p:nvPr/>
        </p:nvSpPr>
        <p:spPr>
          <a:xfrm>
            <a:off x="457200" y="1051560"/>
            <a:ext cx="8229600" cy="1645920"/>
          </a:xfrm>
          <a:prstGeom prst="rect">
            <a:avLst/>
          </a:prstGeom>
          <a:solidFill>
            <a:srgbClr val="EBF5FB"/>
          </a:solidFill>
          <a:ln/>
          <a:effectLst>
            <a:outerShdw sx="100000" sy="100000" kx="0" ky="0" algn="bl" rotWithShape="0" blurRad="50800" dist="12700" dir="8100000">
              <a:srgbClr val="000000">
                <a:alpha val="8000"/>
              </a:srgbClr>
            </a:outerShdw>
          </a:effectLst>
        </p:spPr>
      </p:sp>
      <p:pic>
        <p:nvPicPr>
          <p:cNvPr id="6" name="Image 0" descr="preencoded.png"/>
          <p:cNvPicPr>
            <a:picLocks noChangeAspect="1"/>
          </p:cNvPicPr>
          <p:nvPr/>
        </p:nvPicPr>
        <p:blipFill>
          <a:blip r:embed="rId1"/>
          <a:stretch>
            <a:fillRect/>
          </a:stretch>
        </p:blipFill>
        <p:spPr>
          <a:xfrm>
            <a:off x="640080" y="1188720"/>
            <a:ext cx="365760" cy="365760"/>
          </a:xfrm>
          <a:prstGeom prst="rect">
            <a:avLst/>
          </a:prstGeom>
        </p:spPr>
      </p:pic>
      <p:sp>
        <p:nvSpPr>
          <p:cNvPr id="7" name="Text 4"/>
          <p:cNvSpPr/>
          <p:nvPr/>
        </p:nvSpPr>
        <p:spPr>
          <a:xfrm>
            <a:off x="1097280" y="1143000"/>
            <a:ext cx="4572000" cy="411480"/>
          </a:xfrm>
          <a:prstGeom prst="rect">
            <a:avLst/>
          </a:prstGeom>
          <a:noFill/>
          <a:ln/>
        </p:spPr>
        <p:txBody>
          <a:bodyPr wrap="square" lIns="0" tIns="0" rIns="0" bIns="0" rtlCol="0" anchor="ctr"/>
          <a:lstStyle/>
          <a:p>
            <a:pPr indent="0" marL="0">
              <a:buNone/>
            </a:pPr>
            <a:r>
              <a:rPr lang="en-US" sz="1700" b="1" dirty="0">
                <a:solidFill>
                  <a:srgbClr val="2D3436"/>
                </a:solidFill>
                <a:latin typeface="Calibri" pitchFamily="34" charset="0"/>
                <a:ea typeface="Calibri" pitchFamily="34" charset="-122"/>
                <a:cs typeface="Calibri" pitchFamily="34" charset="-120"/>
              </a:rPr>
              <a:t>教科別偏差値（任意）</a:t>
            </a:r>
            <a:endParaRPr lang="en-US" sz="1700" dirty="0"/>
          </a:p>
        </p:txBody>
      </p:sp>
      <p:sp>
        <p:nvSpPr>
          <p:cNvPr id="8" name="Text 5"/>
          <p:cNvSpPr/>
          <p:nvPr/>
        </p:nvSpPr>
        <p:spPr>
          <a:xfrm>
            <a:off x="1097280" y="1554480"/>
            <a:ext cx="4572000" cy="27432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 教科別偏差値を入力」をタップすると展開します</a:t>
            </a:r>
            <a:endParaRPr lang="en-US" sz="1100" dirty="0"/>
          </a:p>
        </p:txBody>
      </p:sp>
      <p:sp>
        <p:nvSpPr>
          <p:cNvPr id="9" name="Shape 6"/>
          <p:cNvSpPr/>
          <p:nvPr/>
        </p:nvSpPr>
        <p:spPr>
          <a:xfrm>
            <a:off x="731520" y="1920240"/>
            <a:ext cx="1645920" cy="594360"/>
          </a:xfrm>
          <a:prstGeom prst="rect">
            <a:avLst/>
          </a:prstGeom>
          <a:solidFill>
            <a:srgbClr val="FFFFFF"/>
          </a:solidFill>
          <a:ln/>
        </p:spPr>
      </p:sp>
      <p:sp>
        <p:nvSpPr>
          <p:cNvPr id="10" name="Text 7"/>
          <p:cNvSpPr/>
          <p:nvPr/>
        </p:nvSpPr>
        <p:spPr>
          <a:xfrm>
            <a:off x="731520" y="1920240"/>
            <a:ext cx="1645920" cy="594360"/>
          </a:xfrm>
          <a:prstGeom prst="rect">
            <a:avLst/>
          </a:prstGeom>
          <a:noFill/>
          <a:ln/>
        </p:spPr>
        <p:txBody>
          <a:bodyPr wrap="square" lIns="0" tIns="0" rIns="0" bIns="0" rtlCol="0" anchor="ctr"/>
          <a:lstStyle/>
          <a:p>
            <a:pPr algn="ctr" indent="0" marL="0">
              <a:buNone/>
            </a:pPr>
            <a:r>
              <a:rPr lang="en-US" sz="1400" b="1" dirty="0">
                <a:solidFill>
                  <a:srgbClr val="3498DB"/>
                </a:solidFill>
                <a:latin typeface="Calibri" pitchFamily="34" charset="0"/>
                <a:ea typeface="Calibri" pitchFamily="34" charset="-122"/>
                <a:cs typeface="Calibri" pitchFamily="34" charset="-120"/>
              </a:rPr>
              <a:t>国語</a:t>
            </a:r>
            <a:endParaRPr lang="en-US" sz="1400" dirty="0"/>
          </a:p>
        </p:txBody>
      </p:sp>
      <p:sp>
        <p:nvSpPr>
          <p:cNvPr id="11" name="Shape 8"/>
          <p:cNvSpPr/>
          <p:nvPr/>
        </p:nvSpPr>
        <p:spPr>
          <a:xfrm>
            <a:off x="2651760" y="1920240"/>
            <a:ext cx="1645920" cy="594360"/>
          </a:xfrm>
          <a:prstGeom prst="rect">
            <a:avLst/>
          </a:prstGeom>
          <a:solidFill>
            <a:srgbClr val="FFFFFF"/>
          </a:solidFill>
          <a:ln/>
        </p:spPr>
      </p:sp>
      <p:sp>
        <p:nvSpPr>
          <p:cNvPr id="12" name="Text 9"/>
          <p:cNvSpPr/>
          <p:nvPr/>
        </p:nvSpPr>
        <p:spPr>
          <a:xfrm>
            <a:off x="2651760" y="1920240"/>
            <a:ext cx="1645920" cy="594360"/>
          </a:xfrm>
          <a:prstGeom prst="rect">
            <a:avLst/>
          </a:prstGeom>
          <a:noFill/>
          <a:ln/>
        </p:spPr>
        <p:txBody>
          <a:bodyPr wrap="square" lIns="0" tIns="0" rIns="0" bIns="0" rtlCol="0" anchor="ctr"/>
          <a:lstStyle/>
          <a:p>
            <a:pPr algn="ctr" indent="0" marL="0">
              <a:buNone/>
            </a:pPr>
            <a:r>
              <a:rPr lang="en-US" sz="1400" b="1" dirty="0">
                <a:solidFill>
                  <a:srgbClr val="3498DB"/>
                </a:solidFill>
                <a:latin typeface="Calibri" pitchFamily="34" charset="0"/>
                <a:ea typeface="Calibri" pitchFamily="34" charset="-122"/>
                <a:cs typeface="Calibri" pitchFamily="34" charset="-120"/>
              </a:rPr>
              <a:t>算数</a:t>
            </a:r>
            <a:endParaRPr lang="en-US" sz="1400" dirty="0"/>
          </a:p>
        </p:txBody>
      </p:sp>
      <p:sp>
        <p:nvSpPr>
          <p:cNvPr id="13" name="Shape 10"/>
          <p:cNvSpPr/>
          <p:nvPr/>
        </p:nvSpPr>
        <p:spPr>
          <a:xfrm>
            <a:off x="4572000" y="1920240"/>
            <a:ext cx="1645920" cy="594360"/>
          </a:xfrm>
          <a:prstGeom prst="rect">
            <a:avLst/>
          </a:prstGeom>
          <a:solidFill>
            <a:srgbClr val="FFFFFF"/>
          </a:solidFill>
          <a:ln/>
        </p:spPr>
      </p:sp>
      <p:sp>
        <p:nvSpPr>
          <p:cNvPr id="14" name="Text 11"/>
          <p:cNvSpPr/>
          <p:nvPr/>
        </p:nvSpPr>
        <p:spPr>
          <a:xfrm>
            <a:off x="4572000" y="1920240"/>
            <a:ext cx="1645920" cy="594360"/>
          </a:xfrm>
          <a:prstGeom prst="rect">
            <a:avLst/>
          </a:prstGeom>
          <a:noFill/>
          <a:ln/>
        </p:spPr>
        <p:txBody>
          <a:bodyPr wrap="square" lIns="0" tIns="0" rIns="0" bIns="0" rtlCol="0" anchor="ctr"/>
          <a:lstStyle/>
          <a:p>
            <a:pPr algn="ctr" indent="0" marL="0">
              <a:buNone/>
            </a:pPr>
            <a:r>
              <a:rPr lang="en-US" sz="1400" b="1" dirty="0">
                <a:solidFill>
                  <a:srgbClr val="3498DB"/>
                </a:solidFill>
                <a:latin typeface="Calibri" pitchFamily="34" charset="0"/>
                <a:ea typeface="Calibri" pitchFamily="34" charset="-122"/>
                <a:cs typeface="Calibri" pitchFamily="34" charset="-120"/>
              </a:rPr>
              <a:t>理科</a:t>
            </a:r>
            <a:endParaRPr lang="en-US" sz="1400" dirty="0"/>
          </a:p>
        </p:txBody>
      </p:sp>
      <p:sp>
        <p:nvSpPr>
          <p:cNvPr id="15" name="Shape 12"/>
          <p:cNvSpPr/>
          <p:nvPr/>
        </p:nvSpPr>
        <p:spPr>
          <a:xfrm>
            <a:off x="6492240" y="1920240"/>
            <a:ext cx="1645920" cy="594360"/>
          </a:xfrm>
          <a:prstGeom prst="rect">
            <a:avLst/>
          </a:prstGeom>
          <a:solidFill>
            <a:srgbClr val="FFFFFF"/>
          </a:solidFill>
          <a:ln/>
        </p:spPr>
      </p:sp>
      <p:sp>
        <p:nvSpPr>
          <p:cNvPr id="16" name="Text 13"/>
          <p:cNvSpPr/>
          <p:nvPr/>
        </p:nvSpPr>
        <p:spPr>
          <a:xfrm>
            <a:off x="6492240" y="1920240"/>
            <a:ext cx="1645920" cy="594360"/>
          </a:xfrm>
          <a:prstGeom prst="rect">
            <a:avLst/>
          </a:prstGeom>
          <a:noFill/>
          <a:ln/>
        </p:spPr>
        <p:txBody>
          <a:bodyPr wrap="square" lIns="0" tIns="0" rIns="0" bIns="0" rtlCol="0" anchor="ctr"/>
          <a:lstStyle/>
          <a:p>
            <a:pPr algn="ctr" indent="0" marL="0">
              <a:buNone/>
            </a:pPr>
            <a:r>
              <a:rPr lang="en-US" sz="1400" b="1" dirty="0">
                <a:solidFill>
                  <a:srgbClr val="3498DB"/>
                </a:solidFill>
                <a:latin typeface="Calibri" pitchFamily="34" charset="0"/>
                <a:ea typeface="Calibri" pitchFamily="34" charset="-122"/>
                <a:cs typeface="Calibri" pitchFamily="34" charset="-120"/>
              </a:rPr>
              <a:t>社会</a:t>
            </a:r>
            <a:endParaRPr lang="en-US" sz="1400" dirty="0"/>
          </a:p>
        </p:txBody>
      </p:sp>
      <p:sp>
        <p:nvSpPr>
          <p:cNvPr id="17" name="Text 14"/>
          <p:cNvSpPr/>
          <p:nvPr/>
        </p:nvSpPr>
        <p:spPr>
          <a:xfrm>
            <a:off x="731520" y="2560320"/>
            <a:ext cx="7772400" cy="274320"/>
          </a:xfrm>
          <a:prstGeom prst="rect">
            <a:avLst/>
          </a:prstGeom>
          <a:noFill/>
          <a:ln/>
        </p:spPr>
        <p:txBody>
          <a:bodyPr wrap="square" lIns="0" tIns="0" rIns="0" bIns="0" rtlCol="0" anchor="ctr"/>
          <a:lstStyle/>
          <a:p>
            <a:pPr indent="0" marL="0">
              <a:buNone/>
            </a:pPr>
            <a:r>
              <a:rPr lang="en-US" sz="1000" i="1" dirty="0">
                <a:solidFill>
                  <a:srgbClr val="636E72"/>
                </a:solidFill>
                <a:latin typeface="Calibri" pitchFamily="34" charset="0"/>
                <a:ea typeface="Calibri" pitchFamily="34" charset="-122"/>
                <a:cs typeface="Calibri" pitchFamily="34" charset="-120"/>
              </a:rPr>
              <a:t>2科入試（算国・算理）や1科入試の判定精度が向上します。未入力の場合は4科偏差値を使用。</a:t>
            </a:r>
            <a:endParaRPr lang="en-US" sz="1000" dirty="0"/>
          </a:p>
        </p:txBody>
      </p:sp>
      <p:sp>
        <p:nvSpPr>
          <p:cNvPr id="18" name="Shape 15"/>
          <p:cNvSpPr/>
          <p:nvPr/>
        </p:nvSpPr>
        <p:spPr>
          <a:xfrm>
            <a:off x="457200" y="3017520"/>
            <a:ext cx="3931920" cy="1645920"/>
          </a:xfrm>
          <a:prstGeom prst="rect">
            <a:avLst/>
          </a:prstGeom>
          <a:solidFill>
            <a:srgbClr val="F0F4F8"/>
          </a:solidFill>
          <a:ln/>
          <a:effectLst>
            <a:outerShdw sx="100000" sy="100000" kx="0" ky="0" algn="bl" rotWithShape="0" blurRad="50800" dist="12700" dir="8100000">
              <a:srgbClr val="000000">
                <a:alpha val="8000"/>
              </a:srgbClr>
            </a:outerShdw>
          </a:effectLst>
        </p:spPr>
      </p:sp>
      <p:pic>
        <p:nvPicPr>
          <p:cNvPr id="19" name="Image 1" descr="preencoded.png"/>
          <p:cNvPicPr>
            <a:picLocks noChangeAspect="1"/>
          </p:cNvPicPr>
          <p:nvPr/>
        </p:nvPicPr>
        <p:blipFill>
          <a:blip r:embed="rId2"/>
          <a:stretch>
            <a:fillRect/>
          </a:stretch>
        </p:blipFill>
        <p:spPr>
          <a:xfrm>
            <a:off x="640080" y="3154680"/>
            <a:ext cx="365760" cy="365760"/>
          </a:xfrm>
          <a:prstGeom prst="rect">
            <a:avLst/>
          </a:prstGeom>
        </p:spPr>
      </p:pic>
      <p:sp>
        <p:nvSpPr>
          <p:cNvPr id="20" name="Text 16"/>
          <p:cNvSpPr/>
          <p:nvPr/>
        </p:nvSpPr>
        <p:spPr>
          <a:xfrm>
            <a:off x="1097280" y="3108960"/>
            <a:ext cx="274320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自宅の最寄り駅（任意）</a:t>
            </a:r>
            <a:endParaRPr lang="en-US" sz="1500" dirty="0"/>
          </a:p>
        </p:txBody>
      </p:sp>
      <p:sp>
        <p:nvSpPr>
          <p:cNvPr id="21" name="Text 17"/>
          <p:cNvSpPr/>
          <p:nvPr/>
        </p:nvSpPr>
        <p:spPr>
          <a:xfrm>
            <a:off x="640080" y="3566160"/>
            <a:ext cx="3474720" cy="1005840"/>
          </a:xfrm>
          <a:prstGeom prst="rect">
            <a:avLst/>
          </a:prstGeom>
          <a:noFill/>
          <a:ln/>
        </p:spPr>
        <p:txBody>
          <a:bodyPr wrap="square" lIns="0" tIns="0" rIns="0" bIns="0" rtlCol="0" anchor="ctr"/>
          <a:lstStyle/>
          <a:p>
            <a:pPr indent="0" marL="0">
              <a:buNone/>
            </a:pPr>
            <a:r>
              <a:rPr lang="en-US" sz="1100" dirty="0">
                <a:solidFill>
                  <a:srgbClr val="2D3436"/>
                </a:solidFill>
                <a:latin typeface="Calibri" pitchFamily="34" charset="0"/>
                <a:ea typeface="Calibri" pitchFamily="34" charset="-122"/>
                <a:cs typeface="Calibri" pitchFamily="34" charset="-120"/>
              </a:rPr>
              <a:t>駅名を入力すると候補が表示されます</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（ひらがな・カタカナ・漢字OK）</a:t>
            </a:r>
            <a:endParaRPr lang="en-US" sz="1100" dirty="0"/>
          </a:p>
          <a:p>
            <a:pPr indent="0" marL="0">
              <a:buNone/>
            </a:pPr>
            <a:endParaRPr lang="en-US" sz="1100" dirty="0"/>
          </a:p>
          <a:p>
            <a:pPr indent="0" marL="0">
              <a:buNone/>
            </a:pPr>
            <a:r>
              <a:rPr lang="en-US" sz="1100" b="1" dirty="0">
                <a:solidFill>
                  <a:srgbClr val="3498DB"/>
                </a:solidFill>
                <a:latin typeface="Calibri" pitchFamily="34" charset="0"/>
                <a:ea typeface="Calibri" pitchFamily="34" charset="-122"/>
                <a:cs typeface="Calibri" pitchFamily="34" charset="-120"/>
              </a:rPr>
              <a:t>→ 各学校への推定通学時間を表示</a:t>
            </a:r>
            <a:endParaRPr lang="en-US" sz="1100" dirty="0"/>
          </a:p>
        </p:txBody>
      </p:sp>
      <p:sp>
        <p:nvSpPr>
          <p:cNvPr id="22" name="Shape 18"/>
          <p:cNvSpPr/>
          <p:nvPr/>
        </p:nvSpPr>
        <p:spPr>
          <a:xfrm>
            <a:off x="4754880" y="3017520"/>
            <a:ext cx="3931920" cy="1645920"/>
          </a:xfrm>
          <a:prstGeom prst="rect">
            <a:avLst/>
          </a:prstGeom>
          <a:solidFill>
            <a:srgbClr val="F0F4F8"/>
          </a:solidFill>
          <a:ln/>
          <a:effectLst>
            <a:outerShdw sx="100000" sy="100000" kx="0" ky="0" algn="bl" rotWithShape="0" blurRad="50800" dist="12700" dir="8100000">
              <a:srgbClr val="000000">
                <a:alpha val="8000"/>
              </a:srgbClr>
            </a:outerShdw>
          </a:effectLst>
        </p:spPr>
      </p:sp>
      <p:pic>
        <p:nvPicPr>
          <p:cNvPr id="23" name="Image 2" descr="preencoded.png"/>
          <p:cNvPicPr>
            <a:picLocks noChangeAspect="1"/>
          </p:cNvPicPr>
          <p:nvPr/>
        </p:nvPicPr>
        <p:blipFill>
          <a:blip r:embed="rId3"/>
          <a:stretch>
            <a:fillRect/>
          </a:stretch>
        </p:blipFill>
        <p:spPr>
          <a:xfrm>
            <a:off x="4937760" y="3154680"/>
            <a:ext cx="365760" cy="365760"/>
          </a:xfrm>
          <a:prstGeom prst="rect">
            <a:avLst/>
          </a:prstGeom>
        </p:spPr>
      </p:pic>
      <p:sp>
        <p:nvSpPr>
          <p:cNvPr id="24" name="Text 19"/>
          <p:cNvSpPr/>
          <p:nvPr/>
        </p:nvSpPr>
        <p:spPr>
          <a:xfrm>
            <a:off x="5394960" y="3108960"/>
            <a:ext cx="274320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志望校の指定（任意）</a:t>
            </a:r>
            <a:endParaRPr lang="en-US" sz="1500" dirty="0"/>
          </a:p>
        </p:txBody>
      </p:sp>
      <p:sp>
        <p:nvSpPr>
          <p:cNvPr id="25" name="Text 20"/>
          <p:cNvSpPr/>
          <p:nvPr/>
        </p:nvSpPr>
        <p:spPr>
          <a:xfrm>
            <a:off x="4937760" y="3566160"/>
            <a:ext cx="3474720" cy="1097280"/>
          </a:xfrm>
          <a:prstGeom prst="rect">
            <a:avLst/>
          </a:prstGeom>
          <a:noFill/>
          <a:ln/>
        </p:spPr>
        <p:txBody>
          <a:bodyPr wrap="square" lIns="0" tIns="0" rIns="0" bIns="0" rtlCol="0" anchor="ctr"/>
          <a:lstStyle/>
          <a:p>
            <a:pPr indent="0" marL="0">
              <a:buNone/>
            </a:pPr>
            <a:r>
              <a:rPr lang="en-US" sz="1100" dirty="0">
                <a:solidFill>
                  <a:srgbClr val="2D3436"/>
                </a:solidFill>
                <a:latin typeface="Calibri" pitchFamily="34" charset="0"/>
                <a:ea typeface="Calibri" pitchFamily="34" charset="-122"/>
                <a:cs typeface="Calibri" pitchFamily="34" charset="-120"/>
              </a:rPr>
              <a:t>第1〜第5志望まで指定可能</a:t>
            </a:r>
            <a:endParaRPr lang="en-US" sz="1100" dirty="0"/>
          </a:p>
          <a:p>
            <a:pPr indent="0" marL="0">
              <a:buNone/>
            </a:pPr>
            <a:r>
              <a:rPr lang="en-US" sz="1100" dirty="0">
                <a:solidFill>
                  <a:srgbClr val="636E72"/>
                </a:solidFill>
                <a:latin typeface="Calibri" pitchFamily="34" charset="0"/>
                <a:ea typeface="Calibri" pitchFamily="34" charset="-122"/>
                <a:cs typeface="Calibri" pitchFamily="34" charset="-120"/>
              </a:rPr>
              <a:t>学校名を入力すると候補が出ます</a:t>
            </a:r>
            <a:endParaRPr lang="en-US" sz="1100" dirty="0"/>
          </a:p>
          <a:p>
            <a:pPr indent="0" marL="0">
              <a:buNone/>
            </a:pP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「必ず受験する」にチェックすると</a:t>
            </a:r>
            <a:endParaRPr lang="en-US" sz="1100" dirty="0"/>
          </a:p>
          <a:p>
            <a:pPr indent="0" marL="0">
              <a:buNone/>
            </a:pPr>
            <a:r>
              <a:rPr lang="en-US" sz="1100" b="1" dirty="0">
                <a:solidFill>
                  <a:srgbClr val="E74C3C"/>
                </a:solidFill>
                <a:latin typeface="Calibri" pitchFamily="34" charset="0"/>
                <a:ea typeface="Calibri" pitchFamily="34" charset="-122"/>
                <a:cs typeface="Calibri" pitchFamily="34" charset="-120"/>
              </a:rPr>
              <a:t>→ その学校が必ず含まれるプランに</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3E50"/>
          </a:solidFill>
          <a:ln/>
        </p:spPr>
      </p:sp>
      <p:sp>
        <p:nvSpPr>
          <p:cNvPr id="3" name="Text 1"/>
          <p:cNvSpPr/>
          <p:nvPr/>
        </p:nvSpPr>
        <p:spPr>
          <a:xfrm>
            <a:off x="548640" y="73152"/>
            <a:ext cx="1097280" cy="320040"/>
          </a:xfrm>
          <a:prstGeom prst="rect">
            <a:avLst/>
          </a:prstGeom>
          <a:noFill/>
          <a:ln/>
        </p:spPr>
        <p:txBody>
          <a:bodyPr wrap="square" lIns="0" tIns="0" rIns="0" bIns="0" rtlCol="0" anchor="ctr"/>
          <a:lstStyle/>
          <a:p>
            <a:pPr indent="0" marL="0">
              <a:buNone/>
            </a:pPr>
            <a:r>
              <a:rPr lang="en-US" sz="1200" b="1" dirty="0">
                <a:solidFill>
                  <a:srgbClr val="3498DB"/>
                </a:solidFill>
                <a:latin typeface="Calibri" pitchFamily="34" charset="0"/>
                <a:ea typeface="Calibri" pitchFamily="34" charset="-122"/>
                <a:cs typeface="Calibri" pitchFamily="34" charset="-120"/>
              </a:rPr>
              <a:t>STEP 3</a:t>
            </a:r>
            <a:endParaRPr lang="en-US" sz="1200" dirty="0"/>
          </a:p>
        </p:txBody>
      </p:sp>
      <p:sp>
        <p:nvSpPr>
          <p:cNvPr id="4" name="Text 2"/>
          <p:cNvSpPr/>
          <p:nvPr/>
        </p:nvSpPr>
        <p:spPr>
          <a:xfrm>
            <a:off x="548640" y="320040"/>
            <a:ext cx="64008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結果画面の見方 ― 3つの戦略タイプ</a:t>
            </a:r>
            <a:endParaRPr lang="en-US" sz="2200" dirty="0"/>
          </a:p>
        </p:txBody>
      </p:sp>
      <p:sp>
        <p:nvSpPr>
          <p:cNvPr id="5" name="Text 3"/>
          <p:cNvSpPr/>
          <p:nvPr/>
        </p:nvSpPr>
        <p:spPr>
          <a:xfrm>
            <a:off x="457200" y="1005840"/>
            <a:ext cx="8229600" cy="365760"/>
          </a:xfrm>
          <a:prstGeom prst="rect">
            <a:avLst/>
          </a:prstGeom>
          <a:noFill/>
          <a:ln/>
        </p:spPr>
        <p:txBody>
          <a:bodyPr wrap="square" lIns="0" tIns="0" rIns="0" bIns="0" rtlCol="0" anchor="ctr"/>
          <a:lstStyle/>
          <a:p>
            <a:pPr indent="0" marL="0">
              <a:buNone/>
            </a:pPr>
            <a:r>
              <a:rPr lang="en-US" sz="1300" dirty="0">
                <a:solidFill>
                  <a:srgbClr val="2D3436"/>
                </a:solidFill>
                <a:latin typeface="Calibri" pitchFamily="34" charset="0"/>
                <a:ea typeface="Calibri" pitchFamily="34" charset="-122"/>
                <a:cs typeface="Calibri" pitchFamily="34" charset="-120"/>
              </a:rPr>
              <a:t>「併願パターンを作成」ボタンを押すと、以下の3タイプの併願プランが表示されます。</a:t>
            </a:r>
            <a:endParaRPr lang="en-US" sz="1300" dirty="0"/>
          </a:p>
        </p:txBody>
      </p:sp>
      <p:sp>
        <p:nvSpPr>
          <p:cNvPr id="6" name="Shape 4"/>
          <p:cNvSpPr/>
          <p:nvPr/>
        </p:nvSpPr>
        <p:spPr>
          <a:xfrm>
            <a:off x="457200" y="1508760"/>
            <a:ext cx="2606040" cy="3337560"/>
          </a:xfrm>
          <a:prstGeom prst="rect">
            <a:avLst/>
          </a:prstGeom>
          <a:solidFill>
            <a:srgbClr val="FFFFFF"/>
          </a:solidFill>
          <a:ln w="19050">
            <a:solidFill>
              <a:srgbClr val="E74C3C"/>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457200" y="1508760"/>
            <a:ext cx="2606040" cy="640080"/>
          </a:xfrm>
          <a:prstGeom prst="rect">
            <a:avLst/>
          </a:prstGeom>
          <a:solidFill>
            <a:srgbClr val="FEF0F0"/>
          </a:solidFill>
          <a:ln/>
        </p:spPr>
      </p:sp>
      <p:pic>
        <p:nvPicPr>
          <p:cNvPr id="8" name="Image 0" descr="preencoded.png"/>
          <p:cNvPicPr>
            <a:picLocks noChangeAspect="1"/>
          </p:cNvPicPr>
          <p:nvPr/>
        </p:nvPicPr>
        <p:blipFill>
          <a:blip r:embed="rId1"/>
          <a:stretch>
            <a:fillRect/>
          </a:stretch>
        </p:blipFill>
        <p:spPr>
          <a:xfrm>
            <a:off x="731520" y="1627632"/>
            <a:ext cx="365760" cy="365760"/>
          </a:xfrm>
          <a:prstGeom prst="rect">
            <a:avLst/>
          </a:prstGeom>
        </p:spPr>
      </p:pic>
      <p:sp>
        <p:nvSpPr>
          <p:cNvPr id="9" name="Text 6"/>
          <p:cNvSpPr/>
          <p:nvPr/>
        </p:nvSpPr>
        <p:spPr>
          <a:xfrm>
            <a:off x="1097280" y="1508760"/>
            <a:ext cx="1691640" cy="640080"/>
          </a:xfrm>
          <a:prstGeom prst="rect">
            <a:avLst/>
          </a:prstGeom>
          <a:noFill/>
          <a:ln/>
        </p:spPr>
        <p:txBody>
          <a:bodyPr wrap="square" lIns="0" tIns="0" rIns="0" bIns="0" rtlCol="0" anchor="ctr"/>
          <a:lstStyle/>
          <a:p>
            <a:pPr algn="ctr" indent="0" marL="0">
              <a:buNone/>
            </a:pPr>
            <a:r>
              <a:rPr lang="en-US" sz="1700" b="1" dirty="0">
                <a:solidFill>
                  <a:srgbClr val="E74C3C"/>
                </a:solidFill>
                <a:latin typeface="Calibri" pitchFamily="34" charset="0"/>
                <a:ea typeface="Calibri" pitchFamily="34" charset="-122"/>
                <a:cs typeface="Calibri" pitchFamily="34" charset="-120"/>
              </a:rPr>
              <a:t>攻めの併願</a:t>
            </a:r>
            <a:endParaRPr lang="en-US" sz="1700" dirty="0"/>
          </a:p>
        </p:txBody>
      </p:sp>
      <p:sp>
        <p:nvSpPr>
          <p:cNvPr id="10" name="Text 7"/>
          <p:cNvSpPr/>
          <p:nvPr/>
        </p:nvSpPr>
        <p:spPr>
          <a:xfrm>
            <a:off x="640080" y="2377440"/>
            <a:ext cx="2240280" cy="2286000"/>
          </a:xfrm>
          <a:prstGeom prst="rect">
            <a:avLst/>
          </a:prstGeom>
          <a:noFill/>
          <a:ln/>
        </p:spPr>
        <p:txBody>
          <a:bodyPr wrap="square" lIns="0" tIns="0" rIns="0" bIns="0" rtlCol="0" anchor="t"/>
          <a:lstStyle/>
          <a:p>
            <a:pPr algn="ctr" indent="0" marL="0">
              <a:buNone/>
            </a:pPr>
            <a:r>
              <a:rPr lang="en-US" sz="1200" dirty="0">
                <a:solidFill>
                  <a:srgbClr val="2D3436"/>
                </a:solidFill>
                <a:latin typeface="Calibri" pitchFamily="34" charset="0"/>
                <a:ea typeface="Calibri" pitchFamily="34" charset="-122"/>
                <a:cs typeface="Calibri" pitchFamily="34" charset="-120"/>
              </a:rPr>
              <a:t>チャレンジ校を多めに配置した</a:t>
            </a: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積極的なプラン。</a:t>
            </a:r>
            <a:endParaRPr lang="en-US" sz="1200" dirty="0"/>
          </a:p>
          <a:p>
            <a:pPr algn="ctr" indent="0" marL="0">
              <a:buNone/>
            </a:pP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偏差値が上の学校にも</a:t>
            </a: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果敢に挑戦するスケジュールです。</a:t>
            </a:r>
            <a:endParaRPr lang="en-US" sz="1200" dirty="0"/>
          </a:p>
        </p:txBody>
      </p:sp>
      <p:sp>
        <p:nvSpPr>
          <p:cNvPr id="11" name="Shape 8"/>
          <p:cNvSpPr/>
          <p:nvPr/>
        </p:nvSpPr>
        <p:spPr>
          <a:xfrm>
            <a:off x="3337560" y="1508760"/>
            <a:ext cx="2606040" cy="3337560"/>
          </a:xfrm>
          <a:prstGeom prst="rect">
            <a:avLst/>
          </a:prstGeom>
          <a:solidFill>
            <a:srgbClr val="FFFFFF"/>
          </a:solidFill>
          <a:ln w="19050">
            <a:solidFill>
              <a:srgbClr val="3498DB"/>
            </a:solidFill>
            <a:prstDash val="solid"/>
          </a:ln>
          <a:effectLst>
            <a:outerShdw sx="100000" sy="100000" kx="0" ky="0" algn="bl" rotWithShape="0" blurRad="101600" dist="25400" dir="8100000">
              <a:srgbClr val="000000">
                <a:alpha val="10000"/>
              </a:srgbClr>
            </a:outerShdw>
          </a:effectLst>
        </p:spPr>
      </p:sp>
      <p:sp>
        <p:nvSpPr>
          <p:cNvPr id="12" name="Shape 9"/>
          <p:cNvSpPr/>
          <p:nvPr/>
        </p:nvSpPr>
        <p:spPr>
          <a:xfrm>
            <a:off x="3337560" y="1508760"/>
            <a:ext cx="2606040" cy="640080"/>
          </a:xfrm>
          <a:prstGeom prst="rect">
            <a:avLst/>
          </a:prstGeom>
          <a:solidFill>
            <a:srgbClr val="EBF5FB"/>
          </a:solidFill>
          <a:ln/>
        </p:spPr>
      </p:sp>
      <p:pic>
        <p:nvPicPr>
          <p:cNvPr id="13" name="Image 1" descr="preencoded.png"/>
          <p:cNvPicPr>
            <a:picLocks noChangeAspect="1"/>
          </p:cNvPicPr>
          <p:nvPr/>
        </p:nvPicPr>
        <p:blipFill>
          <a:blip r:embed="rId2"/>
          <a:stretch>
            <a:fillRect/>
          </a:stretch>
        </p:blipFill>
        <p:spPr>
          <a:xfrm>
            <a:off x="3611880" y="1627632"/>
            <a:ext cx="365760" cy="365760"/>
          </a:xfrm>
          <a:prstGeom prst="rect">
            <a:avLst/>
          </a:prstGeom>
        </p:spPr>
      </p:pic>
      <p:sp>
        <p:nvSpPr>
          <p:cNvPr id="14" name="Text 10"/>
          <p:cNvSpPr/>
          <p:nvPr/>
        </p:nvSpPr>
        <p:spPr>
          <a:xfrm>
            <a:off x="3977640" y="1508760"/>
            <a:ext cx="1691640" cy="640080"/>
          </a:xfrm>
          <a:prstGeom prst="rect">
            <a:avLst/>
          </a:prstGeom>
          <a:noFill/>
          <a:ln/>
        </p:spPr>
        <p:txBody>
          <a:bodyPr wrap="square" lIns="0" tIns="0" rIns="0" bIns="0" rtlCol="0" anchor="ctr"/>
          <a:lstStyle/>
          <a:p>
            <a:pPr algn="ctr" indent="0" marL="0">
              <a:buNone/>
            </a:pPr>
            <a:r>
              <a:rPr lang="en-US" sz="1700" b="1" dirty="0">
                <a:solidFill>
                  <a:srgbClr val="3498DB"/>
                </a:solidFill>
                <a:latin typeface="Calibri" pitchFamily="34" charset="0"/>
                <a:ea typeface="Calibri" pitchFamily="34" charset="-122"/>
                <a:cs typeface="Calibri" pitchFamily="34" charset="-120"/>
              </a:rPr>
              <a:t>バランス型</a:t>
            </a:r>
            <a:endParaRPr lang="en-US" sz="1700" dirty="0"/>
          </a:p>
        </p:txBody>
      </p:sp>
      <p:sp>
        <p:nvSpPr>
          <p:cNvPr id="15" name="Text 11"/>
          <p:cNvSpPr/>
          <p:nvPr/>
        </p:nvSpPr>
        <p:spPr>
          <a:xfrm>
            <a:off x="3520440" y="2377440"/>
            <a:ext cx="2240280" cy="2286000"/>
          </a:xfrm>
          <a:prstGeom prst="rect">
            <a:avLst/>
          </a:prstGeom>
          <a:noFill/>
          <a:ln/>
        </p:spPr>
        <p:txBody>
          <a:bodyPr wrap="square" lIns="0" tIns="0" rIns="0" bIns="0" rtlCol="0" anchor="t"/>
          <a:lstStyle/>
          <a:p>
            <a:pPr algn="ctr" indent="0" marL="0">
              <a:buNone/>
            </a:pPr>
            <a:r>
              <a:rPr lang="en-US" sz="1200" dirty="0">
                <a:solidFill>
                  <a:srgbClr val="2D3436"/>
                </a:solidFill>
                <a:latin typeface="Calibri" pitchFamily="34" charset="0"/>
                <a:ea typeface="Calibri" pitchFamily="34" charset="-122"/>
                <a:cs typeface="Calibri" pitchFamily="34" charset="-120"/>
              </a:rPr>
              <a:t>チャレンジ・相応・安全を</a:t>
            </a: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バランスよく配置。</a:t>
            </a:r>
            <a:endParaRPr lang="en-US" sz="1200" dirty="0"/>
          </a:p>
          <a:p>
            <a:pPr algn="ctr" indent="0" marL="0">
              <a:buNone/>
            </a:pP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多くのご家庭におすすめの</a:t>
            </a: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スタンダードなプランです。</a:t>
            </a:r>
            <a:endParaRPr lang="en-US" sz="1200" dirty="0"/>
          </a:p>
        </p:txBody>
      </p:sp>
      <p:sp>
        <p:nvSpPr>
          <p:cNvPr id="16" name="Shape 12"/>
          <p:cNvSpPr/>
          <p:nvPr/>
        </p:nvSpPr>
        <p:spPr>
          <a:xfrm>
            <a:off x="6217920" y="1508760"/>
            <a:ext cx="2606040" cy="3337560"/>
          </a:xfrm>
          <a:prstGeom prst="rect">
            <a:avLst/>
          </a:prstGeom>
          <a:solidFill>
            <a:srgbClr val="FFFFFF"/>
          </a:solidFill>
          <a:ln w="19050">
            <a:solidFill>
              <a:srgbClr val="27AE60"/>
            </a:solidFill>
            <a:prstDash val="solid"/>
          </a:ln>
          <a:effectLst>
            <a:outerShdw sx="100000" sy="100000" kx="0" ky="0" algn="bl" rotWithShape="0" blurRad="101600" dist="25400" dir="8100000">
              <a:srgbClr val="000000">
                <a:alpha val="10000"/>
              </a:srgbClr>
            </a:outerShdw>
          </a:effectLst>
        </p:spPr>
      </p:sp>
      <p:sp>
        <p:nvSpPr>
          <p:cNvPr id="17" name="Shape 13"/>
          <p:cNvSpPr/>
          <p:nvPr/>
        </p:nvSpPr>
        <p:spPr>
          <a:xfrm>
            <a:off x="6217920" y="1508760"/>
            <a:ext cx="2606040" cy="640080"/>
          </a:xfrm>
          <a:prstGeom prst="rect">
            <a:avLst/>
          </a:prstGeom>
          <a:solidFill>
            <a:srgbClr val="EEFAF0"/>
          </a:solidFill>
          <a:ln/>
        </p:spPr>
      </p:sp>
      <p:pic>
        <p:nvPicPr>
          <p:cNvPr id="18" name="Image 2" descr="preencoded.png"/>
          <p:cNvPicPr>
            <a:picLocks noChangeAspect="1"/>
          </p:cNvPicPr>
          <p:nvPr/>
        </p:nvPicPr>
        <p:blipFill>
          <a:blip r:embed="rId3"/>
          <a:stretch>
            <a:fillRect/>
          </a:stretch>
        </p:blipFill>
        <p:spPr>
          <a:xfrm>
            <a:off x="6492240" y="1627632"/>
            <a:ext cx="365760" cy="365760"/>
          </a:xfrm>
          <a:prstGeom prst="rect">
            <a:avLst/>
          </a:prstGeom>
        </p:spPr>
      </p:pic>
      <p:sp>
        <p:nvSpPr>
          <p:cNvPr id="19" name="Text 14"/>
          <p:cNvSpPr/>
          <p:nvPr/>
        </p:nvSpPr>
        <p:spPr>
          <a:xfrm>
            <a:off x="6858000" y="1508760"/>
            <a:ext cx="1691640" cy="640080"/>
          </a:xfrm>
          <a:prstGeom prst="rect">
            <a:avLst/>
          </a:prstGeom>
          <a:noFill/>
          <a:ln/>
        </p:spPr>
        <p:txBody>
          <a:bodyPr wrap="square" lIns="0" tIns="0" rIns="0" bIns="0" rtlCol="0" anchor="ctr"/>
          <a:lstStyle/>
          <a:p>
            <a:pPr algn="ctr" indent="0" marL="0">
              <a:buNone/>
            </a:pPr>
            <a:r>
              <a:rPr lang="en-US" sz="1700" b="1" dirty="0">
                <a:solidFill>
                  <a:srgbClr val="27AE60"/>
                </a:solidFill>
                <a:latin typeface="Calibri" pitchFamily="34" charset="0"/>
                <a:ea typeface="Calibri" pitchFamily="34" charset="-122"/>
                <a:cs typeface="Calibri" pitchFamily="34" charset="-120"/>
              </a:rPr>
              <a:t>堅実な併願</a:t>
            </a:r>
            <a:endParaRPr lang="en-US" sz="1700" dirty="0"/>
          </a:p>
        </p:txBody>
      </p:sp>
      <p:sp>
        <p:nvSpPr>
          <p:cNvPr id="20" name="Text 15"/>
          <p:cNvSpPr/>
          <p:nvPr/>
        </p:nvSpPr>
        <p:spPr>
          <a:xfrm>
            <a:off x="6400800" y="2377440"/>
            <a:ext cx="2240280" cy="2286000"/>
          </a:xfrm>
          <a:prstGeom prst="rect">
            <a:avLst/>
          </a:prstGeom>
          <a:noFill/>
          <a:ln/>
        </p:spPr>
        <p:txBody>
          <a:bodyPr wrap="square" lIns="0" tIns="0" rIns="0" bIns="0" rtlCol="0" anchor="t"/>
          <a:lstStyle/>
          <a:p>
            <a:pPr algn="ctr" indent="0" marL="0">
              <a:buNone/>
            </a:pPr>
            <a:r>
              <a:rPr lang="en-US" sz="1200" dirty="0">
                <a:solidFill>
                  <a:srgbClr val="2D3436"/>
                </a:solidFill>
                <a:latin typeface="Calibri" pitchFamily="34" charset="0"/>
                <a:ea typeface="Calibri" pitchFamily="34" charset="-122"/>
                <a:cs typeface="Calibri" pitchFamily="34" charset="-120"/>
              </a:rPr>
              <a:t>安全校を多めに配置した</a:t>
            </a: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手堅いプラン。</a:t>
            </a:r>
            <a:endParaRPr lang="en-US" sz="1200" dirty="0"/>
          </a:p>
          <a:p>
            <a:pPr algn="ctr" indent="0" marL="0">
              <a:buNone/>
            </a:pP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合格を確実に積み上げて</a:t>
            </a: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安心を確保するスケジュールです。</a:t>
            </a:r>
            <a:endParaRPr lang="en-US" sz="1200" dirty="0"/>
          </a:p>
        </p:txBody>
      </p:sp>
      <p:sp>
        <p:nvSpPr>
          <p:cNvPr id="21" name="Shape 16"/>
          <p:cNvSpPr/>
          <p:nvPr/>
        </p:nvSpPr>
        <p:spPr>
          <a:xfrm>
            <a:off x="457200" y="4709160"/>
            <a:ext cx="8229600" cy="320040"/>
          </a:xfrm>
          <a:prstGeom prst="rect">
            <a:avLst/>
          </a:prstGeom>
          <a:solidFill>
            <a:srgbClr val="EBF5FB"/>
          </a:solidFill>
          <a:ln/>
        </p:spPr>
      </p:sp>
      <p:pic>
        <p:nvPicPr>
          <p:cNvPr id="22" name="Image 3" descr="preencoded.png"/>
          <p:cNvPicPr>
            <a:picLocks noChangeAspect="1"/>
          </p:cNvPicPr>
          <p:nvPr/>
        </p:nvPicPr>
        <p:blipFill>
          <a:blip r:embed="rId4"/>
          <a:stretch>
            <a:fillRect/>
          </a:stretch>
        </p:blipFill>
        <p:spPr>
          <a:xfrm>
            <a:off x="594360" y="4754880"/>
            <a:ext cx="228600" cy="228600"/>
          </a:xfrm>
          <a:prstGeom prst="rect">
            <a:avLst/>
          </a:prstGeom>
        </p:spPr>
      </p:pic>
      <p:sp>
        <p:nvSpPr>
          <p:cNvPr id="23" name="Text 17"/>
          <p:cNvSpPr/>
          <p:nvPr/>
        </p:nvSpPr>
        <p:spPr>
          <a:xfrm>
            <a:off x="457200" y="4709160"/>
            <a:ext cx="8229600" cy="320040"/>
          </a:xfrm>
          <a:prstGeom prst="rect">
            <a:avLst/>
          </a:prstGeom>
          <a:noFill/>
          <a:ln/>
        </p:spPr>
        <p:txBody>
          <a:bodyPr wrap="square" lIns="0" tIns="0" rIns="0" bIns="0" rtlCol="0" anchor="ctr"/>
          <a:lstStyle/>
          <a:p>
            <a:pPr algn="ctr" indent="0" marL="0">
              <a:buNone/>
            </a:pPr>
            <a:r>
              <a:rPr lang="en-US" sz="1000" dirty="0">
                <a:solidFill>
                  <a:srgbClr val="3498DB"/>
                </a:solidFill>
                <a:latin typeface="Calibri" pitchFamily="34" charset="0"/>
                <a:ea typeface="Calibri" pitchFamily="34" charset="-122"/>
                <a:cs typeface="Calibri" pitchFamily="34" charset="-120"/>
              </a:rPr>
              <a:t>各タイプの先頭に代表パターンが表示。「さらにパターンを表示」で追加候補も確認できます。</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3E50"/>
          </a:solidFill>
          <a:ln/>
        </p:spPr>
      </p:sp>
      <p:sp>
        <p:nvSpPr>
          <p:cNvPr id="3" name="Text 1"/>
          <p:cNvSpPr/>
          <p:nvPr/>
        </p:nvSpPr>
        <p:spPr>
          <a:xfrm>
            <a:off x="548640" y="73152"/>
            <a:ext cx="1097280" cy="320040"/>
          </a:xfrm>
          <a:prstGeom prst="rect">
            <a:avLst/>
          </a:prstGeom>
          <a:noFill/>
          <a:ln/>
        </p:spPr>
        <p:txBody>
          <a:bodyPr wrap="square" lIns="0" tIns="0" rIns="0" bIns="0" rtlCol="0" anchor="ctr"/>
          <a:lstStyle/>
          <a:p>
            <a:pPr indent="0" marL="0">
              <a:buNone/>
            </a:pPr>
            <a:r>
              <a:rPr lang="en-US" sz="1200" b="1" dirty="0">
                <a:solidFill>
                  <a:srgbClr val="3498DB"/>
                </a:solidFill>
                <a:latin typeface="Calibri" pitchFamily="34" charset="0"/>
                <a:ea typeface="Calibri" pitchFamily="34" charset="-122"/>
                <a:cs typeface="Calibri" pitchFamily="34" charset="-120"/>
              </a:rPr>
              <a:t>STEP 3</a:t>
            </a:r>
            <a:endParaRPr lang="en-US" sz="1200" dirty="0"/>
          </a:p>
        </p:txBody>
      </p:sp>
      <p:sp>
        <p:nvSpPr>
          <p:cNvPr id="4" name="Text 2"/>
          <p:cNvSpPr/>
          <p:nvPr/>
        </p:nvSpPr>
        <p:spPr>
          <a:xfrm>
            <a:off x="548640" y="320040"/>
            <a:ext cx="64008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結果画面の見方 ― バッジと通学時間</a:t>
            </a:r>
            <a:endParaRPr lang="en-US" sz="2200" dirty="0"/>
          </a:p>
        </p:txBody>
      </p:sp>
      <p:sp>
        <p:nvSpPr>
          <p:cNvPr id="5" name="Text 3"/>
          <p:cNvSpPr/>
          <p:nvPr/>
        </p:nvSpPr>
        <p:spPr>
          <a:xfrm>
            <a:off x="457200" y="1051560"/>
            <a:ext cx="3657600" cy="365760"/>
          </a:xfrm>
          <a:prstGeom prst="rect">
            <a:avLst/>
          </a:prstGeom>
          <a:noFill/>
          <a:ln/>
        </p:spPr>
        <p:txBody>
          <a:bodyPr wrap="square" lIns="0" tIns="0" rIns="0" bIns="0" rtlCol="0" anchor="ctr"/>
          <a:lstStyle/>
          <a:p>
            <a:pPr indent="0" marL="0">
              <a:buNone/>
            </a:pPr>
            <a:r>
              <a:rPr lang="en-US" sz="1700" b="1" dirty="0">
                <a:solidFill>
                  <a:srgbClr val="2D3436"/>
                </a:solidFill>
                <a:latin typeface="Calibri" pitchFamily="34" charset="0"/>
                <a:ea typeface="Calibri" pitchFamily="34" charset="-122"/>
                <a:cs typeface="Calibri" pitchFamily="34" charset="-120"/>
              </a:rPr>
              <a:t>難易度バッジ</a:t>
            </a:r>
            <a:endParaRPr lang="en-US" sz="1700" dirty="0"/>
          </a:p>
        </p:txBody>
      </p:sp>
      <p:sp>
        <p:nvSpPr>
          <p:cNvPr id="6" name="Shape 4"/>
          <p:cNvSpPr/>
          <p:nvPr/>
        </p:nvSpPr>
        <p:spPr>
          <a:xfrm>
            <a:off x="640080" y="1508760"/>
            <a:ext cx="1463040" cy="457200"/>
          </a:xfrm>
          <a:prstGeom prst="rect">
            <a:avLst/>
          </a:prstGeom>
          <a:solidFill>
            <a:srgbClr val="FDCFCF"/>
          </a:solidFill>
          <a:ln/>
        </p:spPr>
      </p:sp>
      <p:sp>
        <p:nvSpPr>
          <p:cNvPr id="7" name="Text 5"/>
          <p:cNvSpPr/>
          <p:nvPr/>
        </p:nvSpPr>
        <p:spPr>
          <a:xfrm>
            <a:off x="640080" y="1508760"/>
            <a:ext cx="1463040" cy="457200"/>
          </a:xfrm>
          <a:prstGeom prst="rect">
            <a:avLst/>
          </a:prstGeom>
          <a:noFill/>
          <a:ln/>
        </p:spPr>
        <p:txBody>
          <a:bodyPr wrap="square" lIns="0" tIns="0" rIns="0" bIns="0" rtlCol="0" anchor="ctr"/>
          <a:lstStyle/>
          <a:p>
            <a:pPr algn="ctr" indent="0" marL="0">
              <a:buNone/>
            </a:pPr>
            <a:r>
              <a:rPr lang="en-US" sz="1300" b="1" dirty="0">
                <a:solidFill>
                  <a:srgbClr val="E74C3C"/>
                </a:solidFill>
                <a:latin typeface="Calibri" pitchFamily="34" charset="0"/>
                <a:ea typeface="Calibri" pitchFamily="34" charset="-122"/>
                <a:cs typeface="Calibri" pitchFamily="34" charset="-120"/>
              </a:rPr>
              <a:t>チャレンジ校</a:t>
            </a:r>
            <a:endParaRPr lang="en-US" sz="1300" dirty="0"/>
          </a:p>
        </p:txBody>
      </p:sp>
      <p:sp>
        <p:nvSpPr>
          <p:cNvPr id="8" name="Text 6"/>
          <p:cNvSpPr/>
          <p:nvPr/>
        </p:nvSpPr>
        <p:spPr>
          <a:xfrm>
            <a:off x="2286000" y="1508760"/>
            <a:ext cx="2743200" cy="457200"/>
          </a:xfrm>
          <a:prstGeom prst="rect">
            <a:avLst/>
          </a:prstGeom>
          <a:noFill/>
          <a:ln/>
        </p:spPr>
        <p:txBody>
          <a:bodyPr wrap="square" lIns="0" tIns="0" rIns="0" bIns="0" rtlCol="0" anchor="ctr"/>
          <a:lstStyle/>
          <a:p>
            <a:pPr indent="0" marL="0">
              <a:buNone/>
            </a:pPr>
            <a:r>
              <a:rPr lang="en-US" sz="1100" dirty="0">
                <a:solidFill>
                  <a:srgbClr val="2D3436"/>
                </a:solidFill>
                <a:latin typeface="Calibri" pitchFamily="34" charset="0"/>
                <a:ea typeface="Calibri" pitchFamily="34" charset="-122"/>
                <a:cs typeface="Calibri" pitchFamily="34" charset="-120"/>
              </a:rPr>
              <a:t>持ち偏差値より上の学校。</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挑戦して合格を目指す位置づけです。</a:t>
            </a:r>
            <a:endParaRPr lang="en-US" sz="1100" dirty="0"/>
          </a:p>
        </p:txBody>
      </p:sp>
      <p:sp>
        <p:nvSpPr>
          <p:cNvPr id="9" name="Shape 7"/>
          <p:cNvSpPr/>
          <p:nvPr/>
        </p:nvSpPr>
        <p:spPr>
          <a:xfrm>
            <a:off x="640080" y="2423160"/>
            <a:ext cx="1463040" cy="457200"/>
          </a:xfrm>
          <a:prstGeom prst="rect">
            <a:avLst/>
          </a:prstGeom>
          <a:solidFill>
            <a:srgbClr val="D4E6F9"/>
          </a:solidFill>
          <a:ln/>
        </p:spPr>
      </p:sp>
      <p:sp>
        <p:nvSpPr>
          <p:cNvPr id="10" name="Text 8"/>
          <p:cNvSpPr/>
          <p:nvPr/>
        </p:nvSpPr>
        <p:spPr>
          <a:xfrm>
            <a:off x="640080" y="2423160"/>
            <a:ext cx="1463040" cy="457200"/>
          </a:xfrm>
          <a:prstGeom prst="rect">
            <a:avLst/>
          </a:prstGeom>
          <a:noFill/>
          <a:ln/>
        </p:spPr>
        <p:txBody>
          <a:bodyPr wrap="square" lIns="0" tIns="0" rIns="0" bIns="0" rtlCol="0" anchor="ctr"/>
          <a:lstStyle/>
          <a:p>
            <a:pPr algn="ctr" indent="0" marL="0">
              <a:buNone/>
            </a:pPr>
            <a:r>
              <a:rPr lang="en-US" sz="1300" b="1" dirty="0">
                <a:solidFill>
                  <a:srgbClr val="2471A3"/>
                </a:solidFill>
                <a:latin typeface="Calibri" pitchFamily="34" charset="0"/>
                <a:ea typeface="Calibri" pitchFamily="34" charset="-122"/>
                <a:cs typeface="Calibri" pitchFamily="34" charset="-120"/>
              </a:rPr>
              <a:t>相応校</a:t>
            </a:r>
            <a:endParaRPr lang="en-US" sz="1300" dirty="0"/>
          </a:p>
        </p:txBody>
      </p:sp>
      <p:sp>
        <p:nvSpPr>
          <p:cNvPr id="11" name="Text 9"/>
          <p:cNvSpPr/>
          <p:nvPr/>
        </p:nvSpPr>
        <p:spPr>
          <a:xfrm>
            <a:off x="2286000" y="2423160"/>
            <a:ext cx="2743200" cy="457200"/>
          </a:xfrm>
          <a:prstGeom prst="rect">
            <a:avLst/>
          </a:prstGeom>
          <a:noFill/>
          <a:ln/>
        </p:spPr>
        <p:txBody>
          <a:bodyPr wrap="square" lIns="0" tIns="0" rIns="0" bIns="0" rtlCol="0" anchor="ctr"/>
          <a:lstStyle/>
          <a:p>
            <a:pPr indent="0" marL="0">
              <a:buNone/>
            </a:pPr>
            <a:r>
              <a:rPr lang="en-US" sz="1100" dirty="0">
                <a:solidFill>
                  <a:srgbClr val="2D3436"/>
                </a:solidFill>
                <a:latin typeface="Calibri" pitchFamily="34" charset="0"/>
                <a:ea typeface="Calibri" pitchFamily="34" charset="-122"/>
                <a:cs typeface="Calibri" pitchFamily="34" charset="-120"/>
              </a:rPr>
              <a:t>持ち偏差値と同レベルの学校。</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実力相応で合格可能性50%前後です。</a:t>
            </a:r>
            <a:endParaRPr lang="en-US" sz="1100" dirty="0"/>
          </a:p>
        </p:txBody>
      </p:sp>
      <p:sp>
        <p:nvSpPr>
          <p:cNvPr id="12" name="Shape 10"/>
          <p:cNvSpPr/>
          <p:nvPr/>
        </p:nvSpPr>
        <p:spPr>
          <a:xfrm>
            <a:off x="640080" y="3337560"/>
            <a:ext cx="1463040" cy="457200"/>
          </a:xfrm>
          <a:prstGeom prst="rect">
            <a:avLst/>
          </a:prstGeom>
          <a:solidFill>
            <a:srgbClr val="CFF2D6"/>
          </a:solidFill>
          <a:ln/>
        </p:spPr>
      </p:sp>
      <p:sp>
        <p:nvSpPr>
          <p:cNvPr id="13" name="Text 11"/>
          <p:cNvSpPr/>
          <p:nvPr/>
        </p:nvSpPr>
        <p:spPr>
          <a:xfrm>
            <a:off x="640080" y="3337560"/>
            <a:ext cx="1463040" cy="457200"/>
          </a:xfrm>
          <a:prstGeom prst="rect">
            <a:avLst/>
          </a:prstGeom>
          <a:noFill/>
          <a:ln/>
        </p:spPr>
        <p:txBody>
          <a:bodyPr wrap="square" lIns="0" tIns="0" rIns="0" bIns="0" rtlCol="0" anchor="ctr"/>
          <a:lstStyle/>
          <a:p>
            <a:pPr algn="ctr" indent="0" marL="0">
              <a:buNone/>
            </a:pPr>
            <a:r>
              <a:rPr lang="en-US" sz="1300" b="1" dirty="0">
                <a:solidFill>
                  <a:srgbClr val="1E8449"/>
                </a:solidFill>
                <a:latin typeface="Calibri" pitchFamily="34" charset="0"/>
                <a:ea typeface="Calibri" pitchFamily="34" charset="-122"/>
                <a:cs typeface="Calibri" pitchFamily="34" charset="-120"/>
              </a:rPr>
              <a:t>安全校</a:t>
            </a:r>
            <a:endParaRPr lang="en-US" sz="1300" dirty="0"/>
          </a:p>
        </p:txBody>
      </p:sp>
      <p:sp>
        <p:nvSpPr>
          <p:cNvPr id="14" name="Text 12"/>
          <p:cNvSpPr/>
          <p:nvPr/>
        </p:nvSpPr>
        <p:spPr>
          <a:xfrm>
            <a:off x="2286000" y="3337560"/>
            <a:ext cx="2743200" cy="457200"/>
          </a:xfrm>
          <a:prstGeom prst="rect">
            <a:avLst/>
          </a:prstGeom>
          <a:noFill/>
          <a:ln/>
        </p:spPr>
        <p:txBody>
          <a:bodyPr wrap="square" lIns="0" tIns="0" rIns="0" bIns="0" rtlCol="0" anchor="ctr"/>
          <a:lstStyle/>
          <a:p>
            <a:pPr indent="0" marL="0">
              <a:buNone/>
            </a:pPr>
            <a:r>
              <a:rPr lang="en-US" sz="1100" dirty="0">
                <a:solidFill>
                  <a:srgbClr val="2D3436"/>
                </a:solidFill>
                <a:latin typeface="Calibri" pitchFamily="34" charset="0"/>
                <a:ea typeface="Calibri" pitchFamily="34" charset="-122"/>
                <a:cs typeface="Calibri" pitchFamily="34" charset="-120"/>
              </a:rPr>
              <a:t>持ち偏差値より下の学校。</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高い合格可能性で安心感のある選択です。</a:t>
            </a:r>
            <a:endParaRPr lang="en-US" sz="1100" dirty="0"/>
          </a:p>
        </p:txBody>
      </p:sp>
      <p:sp>
        <p:nvSpPr>
          <p:cNvPr id="15" name="Shape 13"/>
          <p:cNvSpPr/>
          <p:nvPr/>
        </p:nvSpPr>
        <p:spPr>
          <a:xfrm>
            <a:off x="5212080" y="1051560"/>
            <a:ext cx="3474720" cy="3108960"/>
          </a:xfrm>
          <a:prstGeom prst="rect">
            <a:avLst/>
          </a:prstGeom>
          <a:solidFill>
            <a:srgbClr val="F0F4F8"/>
          </a:solidFill>
          <a:ln/>
          <a:effectLst>
            <a:outerShdw sx="100000" sy="100000" kx="0" ky="0" algn="bl" rotWithShape="0" blurRad="50800" dist="12700" dir="8100000">
              <a:srgbClr val="000000">
                <a:alpha val="8000"/>
              </a:srgbClr>
            </a:outerShdw>
          </a:effectLst>
        </p:spPr>
      </p:sp>
      <p:pic>
        <p:nvPicPr>
          <p:cNvPr id="16" name="Image 0" descr="preencoded.png"/>
          <p:cNvPicPr>
            <a:picLocks noChangeAspect="1"/>
          </p:cNvPicPr>
          <p:nvPr/>
        </p:nvPicPr>
        <p:blipFill>
          <a:blip r:embed="rId1"/>
          <a:stretch>
            <a:fillRect/>
          </a:stretch>
        </p:blipFill>
        <p:spPr>
          <a:xfrm>
            <a:off x="5394960" y="1188720"/>
            <a:ext cx="411480" cy="411480"/>
          </a:xfrm>
          <a:prstGeom prst="rect">
            <a:avLst/>
          </a:prstGeom>
        </p:spPr>
      </p:pic>
      <p:sp>
        <p:nvSpPr>
          <p:cNvPr id="17" name="Text 14"/>
          <p:cNvSpPr/>
          <p:nvPr/>
        </p:nvSpPr>
        <p:spPr>
          <a:xfrm>
            <a:off x="5897880" y="1143000"/>
            <a:ext cx="2560320" cy="411480"/>
          </a:xfrm>
          <a:prstGeom prst="rect">
            <a:avLst/>
          </a:prstGeom>
          <a:noFill/>
          <a:ln/>
        </p:spPr>
        <p:txBody>
          <a:bodyPr wrap="square" lIns="0" tIns="0" rIns="0" bIns="0" rtlCol="0" anchor="ctr"/>
          <a:lstStyle/>
          <a:p>
            <a:pPr indent="0" marL="0">
              <a:buNone/>
            </a:pPr>
            <a:r>
              <a:rPr lang="en-US" sz="1600" b="1" dirty="0">
                <a:solidFill>
                  <a:srgbClr val="2D3436"/>
                </a:solidFill>
                <a:latin typeface="Calibri" pitchFamily="34" charset="0"/>
                <a:ea typeface="Calibri" pitchFamily="34" charset="-122"/>
                <a:cs typeface="Calibri" pitchFamily="34" charset="-120"/>
              </a:rPr>
              <a:t>通学時間の表示</a:t>
            </a:r>
            <a:endParaRPr lang="en-US" sz="1600" dirty="0"/>
          </a:p>
        </p:txBody>
      </p:sp>
      <p:sp>
        <p:nvSpPr>
          <p:cNvPr id="18" name="Text 15"/>
          <p:cNvSpPr/>
          <p:nvPr/>
        </p:nvSpPr>
        <p:spPr>
          <a:xfrm>
            <a:off x="5394960" y="1691640"/>
            <a:ext cx="3108960" cy="2286000"/>
          </a:xfrm>
          <a:prstGeom prst="rect">
            <a:avLst/>
          </a:prstGeom>
          <a:noFill/>
          <a:ln/>
        </p:spPr>
        <p:txBody>
          <a:bodyPr wrap="square" lIns="0" tIns="0" rIns="0" bIns="0" rtlCol="0" anchor="ctr"/>
          <a:lstStyle/>
          <a:p>
            <a:pPr indent="0" marL="0">
              <a:buNone/>
            </a:pPr>
            <a:r>
              <a:rPr lang="en-US" sz="1200" dirty="0">
                <a:solidFill>
                  <a:srgbClr val="2D3436"/>
                </a:solidFill>
                <a:latin typeface="Calibri" pitchFamily="34" charset="0"/>
                <a:ea typeface="Calibri" pitchFamily="34" charset="-122"/>
                <a:cs typeface="Calibri" pitchFamily="34" charset="-120"/>
              </a:rPr>
              <a:t>最寄り駅を入力している場合、</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各学校への推定所要時間が</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スケジュール上に表示されます。</a:t>
            </a:r>
            <a:endParaRPr lang="en-US" sz="1200" dirty="0"/>
          </a:p>
          <a:p>
            <a:pPr indent="0" marL="0">
              <a:buNone/>
            </a:pPr>
            <a:endParaRPr lang="en-US" sz="1200" dirty="0"/>
          </a:p>
          <a:p>
            <a:pPr indent="0" marL="0">
              <a:buNone/>
            </a:pPr>
            <a:r>
              <a:rPr lang="en-US" sz="1400" b="1" dirty="0">
                <a:solidFill>
                  <a:srgbClr val="3498DB"/>
                </a:solidFill>
                <a:latin typeface="Calibri" pitchFamily="34" charset="0"/>
                <a:ea typeface="Calibri" pitchFamily="34" charset="-122"/>
                <a:cs typeface="Calibri" pitchFamily="34" charset="-120"/>
              </a:rPr>
              <a:t>例：🚃 約45分</a:t>
            </a:r>
            <a:endParaRPr lang="en-US" sz="1200" dirty="0"/>
          </a:p>
          <a:p>
            <a:pPr indent="0" marL="0">
              <a:buNone/>
            </a:pPr>
            <a:endParaRPr lang="en-US" sz="1200" dirty="0"/>
          </a:p>
          <a:p>
            <a:pPr indent="0" marL="0">
              <a:buNone/>
            </a:pPr>
            <a:r>
              <a:rPr lang="en-US" sz="1100" dirty="0">
                <a:solidFill>
                  <a:srgbClr val="2D3436"/>
                </a:solidFill>
                <a:latin typeface="Calibri" pitchFamily="34" charset="0"/>
                <a:ea typeface="Calibri" pitchFamily="34" charset="-122"/>
                <a:cs typeface="Calibri" pitchFamily="34" charset="-120"/>
              </a:rPr>
              <a:t>通学に60分以上かかる場合は</a:t>
            </a:r>
            <a:endParaRPr lang="en-US" sz="1200" dirty="0"/>
          </a:p>
          <a:p>
            <a:pPr indent="0" marL="0">
              <a:buNone/>
            </a:pPr>
            <a:r>
              <a:rPr lang="en-US" sz="1100" b="1" dirty="0">
                <a:solidFill>
                  <a:srgbClr val="E74C3C"/>
                </a:solidFill>
                <a:latin typeface="Calibri" pitchFamily="34" charset="0"/>
                <a:ea typeface="Calibri" pitchFamily="34" charset="-122"/>
                <a:cs typeface="Calibri" pitchFamily="34" charset="-120"/>
              </a:rPr>
              <a:t>赤色で注意表示されます。</a:t>
            </a:r>
            <a:endParaRPr lang="en-US" sz="1200" dirty="0"/>
          </a:p>
        </p:txBody>
      </p:sp>
      <p:sp>
        <p:nvSpPr>
          <p:cNvPr id="19" name="Text 16"/>
          <p:cNvSpPr/>
          <p:nvPr/>
        </p:nvSpPr>
        <p:spPr>
          <a:xfrm>
            <a:off x="457200" y="4297680"/>
            <a:ext cx="4572000" cy="365760"/>
          </a:xfrm>
          <a:prstGeom prst="rect">
            <a:avLst/>
          </a:prstGeom>
          <a:noFill/>
          <a:ln/>
        </p:spPr>
        <p:txBody>
          <a:bodyPr wrap="square" lIns="0" tIns="0" rIns="0" bIns="0" rtlCol="0" anchor="ctr"/>
          <a:lstStyle/>
          <a:p>
            <a:pPr indent="0" marL="0">
              <a:buNone/>
            </a:pPr>
            <a:r>
              <a:rPr lang="en-US" sz="1500" b="1" dirty="0">
                <a:solidFill>
                  <a:srgbClr val="2D3436"/>
                </a:solidFill>
                <a:latin typeface="Calibri" pitchFamily="34" charset="0"/>
                <a:ea typeface="Calibri" pitchFamily="34" charset="-122"/>
                <a:cs typeface="Calibri" pitchFamily="34" charset="-120"/>
              </a:rPr>
              <a:t>スケジュール（カレンダー）表示</a:t>
            </a:r>
            <a:endParaRPr lang="en-US" sz="1500" dirty="0"/>
          </a:p>
        </p:txBody>
      </p:sp>
      <p:sp>
        <p:nvSpPr>
          <p:cNvPr id="20" name="Text 17"/>
          <p:cNvSpPr/>
          <p:nvPr/>
        </p:nvSpPr>
        <p:spPr>
          <a:xfrm>
            <a:off x="457200" y="4663440"/>
            <a:ext cx="8229600" cy="36576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1月の「お試し受験」→ 2月1日〜の「本命」の順に、日付・時間帯（AM/PM）・学校名・偏差値・バッジがカレンダー形式で表示されます。</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3E50"/>
          </a:solidFill>
          <a:ln/>
        </p:spPr>
      </p:sp>
      <p:sp>
        <p:nvSpPr>
          <p:cNvPr id="3" name="Text 1"/>
          <p:cNvSpPr/>
          <p:nvPr/>
        </p:nvSpPr>
        <p:spPr>
          <a:xfrm>
            <a:off x="548640" y="182880"/>
            <a:ext cx="54864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結果の保存と共有</a:t>
            </a:r>
            <a:endParaRPr lang="en-US" sz="2400" dirty="0"/>
          </a:p>
        </p:txBody>
      </p:sp>
      <p:sp>
        <p:nvSpPr>
          <p:cNvPr id="4" name="Shape 2"/>
          <p:cNvSpPr/>
          <p:nvPr/>
        </p:nvSpPr>
        <p:spPr>
          <a:xfrm>
            <a:off x="457200" y="1097280"/>
            <a:ext cx="3931920" cy="3200400"/>
          </a:xfrm>
          <a:prstGeom prst="rect">
            <a:avLst/>
          </a:prstGeom>
          <a:solidFill>
            <a:srgbClr val="F0F4F8"/>
          </a:solidFill>
          <a:ln/>
          <a:effectLst>
            <a:outerShdw sx="100000" sy="100000" kx="0" ky="0" algn="bl" rotWithShape="0" blurRad="101600" dist="25400" dir="8100000">
              <a:srgbClr val="000000">
                <a:alpha val="10000"/>
              </a:srgbClr>
            </a:outerShdw>
          </a:effectLst>
        </p:spPr>
      </p:sp>
      <p:sp>
        <p:nvSpPr>
          <p:cNvPr id="5" name="Shape 3"/>
          <p:cNvSpPr/>
          <p:nvPr/>
        </p:nvSpPr>
        <p:spPr>
          <a:xfrm>
            <a:off x="1965960" y="1325880"/>
            <a:ext cx="914400" cy="914400"/>
          </a:xfrm>
          <a:prstGeom prst="ellipse">
            <a:avLst/>
          </a:prstGeom>
          <a:solidFill>
            <a:srgbClr val="27AE60"/>
          </a:solidFill>
          <a:ln/>
        </p:spPr>
      </p:sp>
      <p:pic>
        <p:nvPicPr>
          <p:cNvPr id="6" name="Image 0" descr="preencoded.png"/>
          <p:cNvPicPr>
            <a:picLocks noChangeAspect="1"/>
          </p:cNvPicPr>
          <p:nvPr/>
        </p:nvPicPr>
        <p:blipFill>
          <a:blip r:embed="rId1"/>
          <a:stretch>
            <a:fillRect/>
          </a:stretch>
        </p:blipFill>
        <p:spPr>
          <a:xfrm>
            <a:off x="2176272" y="1536192"/>
            <a:ext cx="502920" cy="502920"/>
          </a:xfrm>
          <a:prstGeom prst="rect">
            <a:avLst/>
          </a:prstGeom>
        </p:spPr>
      </p:pic>
      <p:sp>
        <p:nvSpPr>
          <p:cNvPr id="7" name="Text 4"/>
          <p:cNvSpPr/>
          <p:nvPr/>
        </p:nvSpPr>
        <p:spPr>
          <a:xfrm>
            <a:off x="640080" y="2377440"/>
            <a:ext cx="3566160" cy="365760"/>
          </a:xfrm>
          <a:prstGeom prst="rect">
            <a:avLst/>
          </a:prstGeom>
          <a:noFill/>
          <a:ln/>
        </p:spPr>
        <p:txBody>
          <a:bodyPr wrap="square" lIns="0" tIns="0" rIns="0" bIns="0" rtlCol="0" anchor="ctr"/>
          <a:lstStyle/>
          <a:p>
            <a:pPr algn="ctr" indent="0" marL="0">
              <a:buNone/>
            </a:pPr>
            <a:r>
              <a:rPr lang="en-US" sz="1800" b="1" dirty="0">
                <a:solidFill>
                  <a:srgbClr val="2D3436"/>
                </a:solidFill>
                <a:latin typeface="Calibri" pitchFamily="34" charset="0"/>
                <a:ea typeface="Calibri" pitchFamily="34" charset="-122"/>
                <a:cs typeface="Calibri" pitchFamily="34" charset="-120"/>
              </a:rPr>
              <a:t>結果の保存</a:t>
            </a:r>
            <a:endParaRPr lang="en-US" sz="1800" dirty="0"/>
          </a:p>
        </p:txBody>
      </p:sp>
      <p:sp>
        <p:nvSpPr>
          <p:cNvPr id="8" name="Text 5"/>
          <p:cNvSpPr/>
          <p:nvPr/>
        </p:nvSpPr>
        <p:spPr>
          <a:xfrm>
            <a:off x="640080" y="2834640"/>
            <a:ext cx="3566160" cy="1371600"/>
          </a:xfrm>
          <a:prstGeom prst="rect">
            <a:avLst/>
          </a:prstGeom>
          <a:noFill/>
          <a:ln/>
        </p:spPr>
        <p:txBody>
          <a:bodyPr wrap="square" lIns="0" tIns="0" rIns="0" bIns="0" rtlCol="0" anchor="ctr"/>
          <a:lstStyle/>
          <a:p>
            <a:pPr algn="ctr" indent="0" marL="0">
              <a:buNone/>
            </a:pPr>
            <a:r>
              <a:rPr lang="en-US" sz="1200" dirty="0">
                <a:solidFill>
                  <a:srgbClr val="2D3436"/>
                </a:solidFill>
                <a:latin typeface="Calibri" pitchFamily="34" charset="0"/>
                <a:ea typeface="Calibri" pitchFamily="34" charset="-122"/>
                <a:cs typeface="Calibri" pitchFamily="34" charset="-120"/>
              </a:rPr>
              <a:t>結果画面の下にある</a:t>
            </a:r>
            <a:endParaRPr lang="en-US" sz="1200" dirty="0"/>
          </a:p>
          <a:p>
            <a:pPr algn="ctr" indent="0" marL="0">
              <a:buNone/>
            </a:pPr>
            <a:r>
              <a:rPr lang="en-US" sz="1300" b="1" dirty="0">
                <a:solidFill>
                  <a:srgbClr val="27AE60"/>
                </a:solidFill>
                <a:latin typeface="Calibri" pitchFamily="34" charset="0"/>
                <a:ea typeface="Calibri" pitchFamily="34" charset="-122"/>
                <a:cs typeface="Calibri" pitchFamily="34" charset="-120"/>
              </a:rPr>
              <a:t>「この結果を保存（HTMLファイル）」</a:t>
            </a: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ボタンをクリック</a:t>
            </a:r>
            <a:endParaRPr lang="en-US" sz="1200" dirty="0"/>
          </a:p>
          <a:p>
            <a:pPr algn="ctr" indent="0" marL="0">
              <a:buNone/>
            </a:pP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 HTMLファイルとして保存されます</a:t>
            </a: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 いつでもダブルクリックで見返せます</a:t>
            </a:r>
            <a:endParaRPr lang="en-US" sz="1200" dirty="0"/>
          </a:p>
        </p:txBody>
      </p:sp>
      <p:sp>
        <p:nvSpPr>
          <p:cNvPr id="9" name="Shape 6"/>
          <p:cNvSpPr/>
          <p:nvPr/>
        </p:nvSpPr>
        <p:spPr>
          <a:xfrm>
            <a:off x="4754880" y="1097280"/>
            <a:ext cx="3931920" cy="3200400"/>
          </a:xfrm>
          <a:prstGeom prst="rect">
            <a:avLst/>
          </a:prstGeom>
          <a:solidFill>
            <a:srgbClr val="F0F4F8"/>
          </a:solidFill>
          <a:ln/>
          <a:effectLst>
            <a:outerShdw sx="100000" sy="100000" kx="0" ky="0" algn="bl" rotWithShape="0" blurRad="101600" dist="25400" dir="8100000">
              <a:srgbClr val="000000">
                <a:alpha val="10000"/>
              </a:srgbClr>
            </a:outerShdw>
          </a:effectLst>
        </p:spPr>
      </p:sp>
      <p:sp>
        <p:nvSpPr>
          <p:cNvPr id="10" name="Shape 7"/>
          <p:cNvSpPr/>
          <p:nvPr/>
        </p:nvSpPr>
        <p:spPr>
          <a:xfrm>
            <a:off x="6263640" y="1325880"/>
            <a:ext cx="914400" cy="914400"/>
          </a:xfrm>
          <a:prstGeom prst="ellipse">
            <a:avLst/>
          </a:prstGeom>
          <a:solidFill>
            <a:srgbClr val="3498DB"/>
          </a:solidFill>
          <a:ln/>
        </p:spPr>
      </p:sp>
      <p:pic>
        <p:nvPicPr>
          <p:cNvPr id="11" name="Image 1" descr="preencoded.png"/>
          <p:cNvPicPr>
            <a:picLocks noChangeAspect="1"/>
          </p:cNvPicPr>
          <p:nvPr/>
        </p:nvPicPr>
        <p:blipFill>
          <a:blip r:embed="rId2"/>
          <a:stretch>
            <a:fillRect/>
          </a:stretch>
        </p:blipFill>
        <p:spPr>
          <a:xfrm>
            <a:off x="6473952" y="1536192"/>
            <a:ext cx="502920" cy="502920"/>
          </a:xfrm>
          <a:prstGeom prst="rect">
            <a:avLst/>
          </a:prstGeom>
        </p:spPr>
      </p:pic>
      <p:sp>
        <p:nvSpPr>
          <p:cNvPr id="12" name="Text 8"/>
          <p:cNvSpPr/>
          <p:nvPr/>
        </p:nvSpPr>
        <p:spPr>
          <a:xfrm>
            <a:off x="4937760" y="2377440"/>
            <a:ext cx="3566160" cy="365760"/>
          </a:xfrm>
          <a:prstGeom prst="rect">
            <a:avLst/>
          </a:prstGeom>
          <a:noFill/>
          <a:ln/>
        </p:spPr>
        <p:txBody>
          <a:bodyPr wrap="square" lIns="0" tIns="0" rIns="0" bIns="0" rtlCol="0" anchor="ctr"/>
          <a:lstStyle/>
          <a:p>
            <a:pPr algn="ctr" indent="0" marL="0">
              <a:buNone/>
            </a:pPr>
            <a:r>
              <a:rPr lang="en-US" sz="1800" b="1" dirty="0">
                <a:solidFill>
                  <a:srgbClr val="2D3436"/>
                </a:solidFill>
                <a:latin typeface="Calibri" pitchFamily="34" charset="0"/>
                <a:ea typeface="Calibri" pitchFamily="34" charset="-122"/>
                <a:cs typeface="Calibri" pitchFamily="34" charset="-120"/>
              </a:rPr>
              <a:t>家族への共有</a:t>
            </a:r>
            <a:endParaRPr lang="en-US" sz="1800" dirty="0"/>
          </a:p>
        </p:txBody>
      </p:sp>
      <p:sp>
        <p:nvSpPr>
          <p:cNvPr id="13" name="Text 9"/>
          <p:cNvSpPr/>
          <p:nvPr/>
        </p:nvSpPr>
        <p:spPr>
          <a:xfrm>
            <a:off x="4937760" y="2834640"/>
            <a:ext cx="3566160" cy="1371600"/>
          </a:xfrm>
          <a:prstGeom prst="rect">
            <a:avLst/>
          </a:prstGeom>
          <a:noFill/>
          <a:ln/>
        </p:spPr>
        <p:txBody>
          <a:bodyPr wrap="square" lIns="0" tIns="0" rIns="0" bIns="0" rtlCol="0" anchor="ctr"/>
          <a:lstStyle/>
          <a:p>
            <a:pPr algn="ctr" indent="0" marL="0">
              <a:buNone/>
            </a:pPr>
            <a:r>
              <a:rPr lang="en-US" sz="1200" dirty="0">
                <a:solidFill>
                  <a:srgbClr val="2D3436"/>
                </a:solidFill>
                <a:latin typeface="Calibri" pitchFamily="34" charset="0"/>
                <a:ea typeface="Calibri" pitchFamily="34" charset="-122"/>
                <a:cs typeface="Calibri" pitchFamily="34" charset="-120"/>
              </a:rPr>
              <a:t>保存したHTMLファイルを</a:t>
            </a:r>
            <a:endParaRPr lang="en-US" sz="1200" dirty="0"/>
          </a:p>
          <a:p>
            <a:pPr algn="ctr" indent="0" marL="0">
              <a:buNone/>
            </a:pPr>
            <a:r>
              <a:rPr lang="en-US" sz="1300" b="1" dirty="0">
                <a:solidFill>
                  <a:srgbClr val="3498DB"/>
                </a:solidFill>
                <a:latin typeface="Calibri" pitchFamily="34" charset="0"/>
                <a:ea typeface="Calibri" pitchFamily="34" charset="-122"/>
                <a:cs typeface="Calibri" pitchFamily="34" charset="-120"/>
              </a:rPr>
              <a:t>LINEやメールで送るだけ！</a:t>
            </a:r>
            <a:endParaRPr lang="en-US" sz="1200" dirty="0"/>
          </a:p>
          <a:p>
            <a:pPr algn="ctr" indent="0" marL="0">
              <a:buNone/>
            </a:pP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 受け取った方もブラウザで閲覧</a:t>
            </a:r>
            <a:endParaRPr lang="en-US" sz="1200" dirty="0"/>
          </a:p>
          <a:p>
            <a:pPr algn="ctr" indent="0" marL="0">
              <a:buNone/>
            </a:pPr>
            <a:r>
              <a:rPr lang="en-US" sz="1200" dirty="0">
                <a:solidFill>
                  <a:srgbClr val="2D3436"/>
                </a:solidFill>
                <a:latin typeface="Calibri" pitchFamily="34" charset="0"/>
                <a:ea typeface="Calibri" pitchFamily="34" charset="-122"/>
                <a:cs typeface="Calibri" pitchFamily="34" charset="-120"/>
              </a:rPr>
              <a:t>→ パートナーと併願作戦を共有</a:t>
            </a:r>
            <a:endParaRPr lang="en-US" sz="1200" dirty="0"/>
          </a:p>
        </p:txBody>
      </p:sp>
      <p:sp>
        <p:nvSpPr>
          <p:cNvPr id="14" name="Shape 10"/>
          <p:cNvSpPr/>
          <p:nvPr/>
        </p:nvSpPr>
        <p:spPr>
          <a:xfrm>
            <a:off x="457200" y="4526280"/>
            <a:ext cx="8229600" cy="502920"/>
          </a:xfrm>
          <a:prstGeom prst="rect">
            <a:avLst/>
          </a:prstGeom>
          <a:solidFill>
            <a:srgbClr val="FFF8E1"/>
          </a:solidFill>
          <a:ln/>
        </p:spPr>
      </p:sp>
      <p:pic>
        <p:nvPicPr>
          <p:cNvPr id="15" name="Image 2" descr="preencoded.png"/>
          <p:cNvPicPr>
            <a:picLocks noChangeAspect="1"/>
          </p:cNvPicPr>
          <p:nvPr/>
        </p:nvPicPr>
        <p:blipFill>
          <a:blip r:embed="rId3"/>
          <a:stretch>
            <a:fillRect/>
          </a:stretch>
        </p:blipFill>
        <p:spPr>
          <a:xfrm>
            <a:off x="640080" y="4590288"/>
            <a:ext cx="320040" cy="320040"/>
          </a:xfrm>
          <a:prstGeom prst="rect">
            <a:avLst/>
          </a:prstGeom>
        </p:spPr>
      </p:pic>
      <p:sp>
        <p:nvSpPr>
          <p:cNvPr id="16" name="Text 11"/>
          <p:cNvSpPr/>
          <p:nvPr/>
        </p:nvSpPr>
        <p:spPr>
          <a:xfrm>
            <a:off x="1097280" y="4526280"/>
            <a:ext cx="7315200" cy="502920"/>
          </a:xfrm>
          <a:prstGeom prst="rect">
            <a:avLst/>
          </a:prstGeom>
          <a:noFill/>
          <a:ln/>
        </p:spPr>
        <p:txBody>
          <a:bodyPr wrap="square" lIns="0" tIns="0" rIns="0" bIns="0" rtlCol="0" anchor="ctr"/>
          <a:lstStyle/>
          <a:p>
            <a:pPr indent="0" marL="0">
              <a:buNone/>
            </a:pPr>
            <a:r>
              <a:rPr lang="en-US" sz="1100" dirty="0">
                <a:solidFill>
                  <a:srgbClr val="7D6608"/>
                </a:solidFill>
                <a:latin typeface="Calibri" pitchFamily="34" charset="0"/>
                <a:ea typeface="Calibri" pitchFamily="34" charset="-122"/>
                <a:cs typeface="Calibri" pitchFamily="34" charset="-120"/>
              </a:rPr>
              <a:t>条件を変えて何度でもシミュレーションできます。保存ファイルを比較して最適なプランを見つけましょう！</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3E50"/>
          </a:solidFill>
          <a:ln/>
        </p:spPr>
        <p:txBody>
          <a:bodyPr/>
          <a:p/>
        </p:txBody>
      </p:sp>
      <p:sp>
        <p:nvSpPr>
          <p:cNvPr id="3" name="Shape 1"/>
          <p:cNvSpPr/>
          <p:nvPr/>
        </p:nvSpPr>
        <p:spPr>
          <a:xfrm>
            <a:off x="548640" y="118872"/>
            <a:ext cx="548640" cy="548640"/>
          </a:xfrm>
          <a:prstGeom prst="ellipse">
            <a:avLst/>
          </a:prstGeom>
          <a:solidFill>
            <a:srgbClr val="3498DB"/>
          </a:solidFill>
          <a:ln/>
        </p:spPr>
        <p:txBody>
          <a:bodyPr/>
          <a:p/>
        </p:txBody>
      </p:sp>
      <p:pic>
        <p:nvPicPr>
          <p:cNvPr id="4" name="Image 0" descr="preencoded.png"/>
          <p:cNvPicPr>
            <a:picLocks noChangeAspect="1"/>
          </p:cNvPicPr>
          <p:nvPr/>
        </p:nvPicPr>
        <p:blipFill>
          <a:blip r:embed="rId1"/>
          <a:stretch>
            <a:fillRect/>
          </a:stretch>
        </p:blipFill>
        <p:spPr>
          <a:xfrm>
            <a:off x="658368" y="228600"/>
            <a:ext cx="329184" cy="329184"/>
          </a:xfrm>
          <a:prstGeom prst="rect">
            <a:avLst/>
          </a:prstGeom>
        </p:spPr>
      </p:pic>
      <p:sp>
        <p:nvSpPr>
          <p:cNvPr id="5" name="Text 2"/>
          <p:cNvSpPr/>
          <p:nvPr/>
        </p:nvSpPr>
        <p:spPr>
          <a:xfrm>
            <a:off x="1280160" y="182880"/>
            <a:ext cx="548640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よくある質問（FAQ）</a:t>
            </a:r>
            <a:endParaRPr lang="en-US" sz="2400" dirty="0"/>
          </a:p>
        </p:txBody>
      </p:sp>
      <p:sp>
        <p:nvSpPr>
          <p:cNvPr id="6" name="Shape 3"/>
          <p:cNvSpPr/>
          <p:nvPr/>
        </p:nvSpPr>
        <p:spPr>
          <a:xfrm>
            <a:off x="457200" y="1005840"/>
            <a:ext cx="411480" cy="411480"/>
          </a:xfrm>
          <a:prstGeom prst="rect">
            <a:avLst/>
          </a:prstGeom>
          <a:solidFill>
            <a:srgbClr val="3498DB"/>
          </a:solidFill>
          <a:ln/>
        </p:spPr>
        <p:txBody>
          <a:bodyPr/>
          <a:p/>
        </p:txBody>
      </p:sp>
      <p:sp>
        <p:nvSpPr>
          <p:cNvPr id="7" name="Text 4"/>
          <p:cNvSpPr/>
          <p:nvPr/>
        </p:nvSpPr>
        <p:spPr>
          <a:xfrm>
            <a:off x="457200" y="10058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a:t>
            </a:r>
            <a:endParaRPr lang="en-US" sz="1600" dirty="0"/>
          </a:p>
        </p:txBody>
      </p:sp>
      <p:sp>
        <p:nvSpPr>
          <p:cNvPr id="8" name="Text 5"/>
          <p:cNvSpPr/>
          <p:nvPr/>
        </p:nvSpPr>
        <p:spPr>
          <a:xfrm>
            <a:off x="1005840" y="1005840"/>
            <a:ext cx="7680960" cy="36576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スマホでも使えますか？</a:t>
            </a:r>
            <a:endParaRPr lang="en-US" sz="1400" dirty="0"/>
          </a:p>
        </p:txBody>
      </p:sp>
      <p:sp>
        <p:nvSpPr>
          <p:cNvPr id="9" name="Shape 6"/>
          <p:cNvSpPr/>
          <p:nvPr/>
        </p:nvSpPr>
        <p:spPr>
          <a:xfrm>
            <a:off x="1005840" y="1417320"/>
            <a:ext cx="7680960" cy="457200"/>
          </a:xfrm>
          <a:prstGeom prst="rect">
            <a:avLst/>
          </a:prstGeom>
          <a:solidFill>
            <a:srgbClr val="F0F4F8"/>
          </a:solidFill>
          <a:ln/>
        </p:spPr>
        <p:txBody>
          <a:bodyPr/>
          <a:p/>
        </p:txBody>
      </p:sp>
      <p:sp>
        <p:nvSpPr>
          <p:cNvPr id="10" name="Text 7"/>
          <p:cNvSpPr/>
          <p:nvPr/>
        </p:nvSpPr>
        <p:spPr>
          <a:xfrm>
            <a:off x="1188720" y="1417320"/>
            <a:ext cx="7315200" cy="45720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はい。iPhone・Androidどちらでも、ブラウザ（Safari・Chrome等）からアクセスしてご利用いただけます。アプリのインストールは不要です。</a:t>
            </a:r>
            <a:endParaRPr lang="en-US" sz="1100" dirty="0"/>
          </a:p>
        </p:txBody>
      </p:sp>
      <p:sp>
        <p:nvSpPr>
          <p:cNvPr id="11" name="Shape 8"/>
          <p:cNvSpPr/>
          <p:nvPr/>
        </p:nvSpPr>
        <p:spPr>
          <a:xfrm>
            <a:off x="457200" y="2011680"/>
            <a:ext cx="411480" cy="411480"/>
          </a:xfrm>
          <a:prstGeom prst="rect">
            <a:avLst/>
          </a:prstGeom>
          <a:solidFill>
            <a:srgbClr val="3498DB"/>
          </a:solidFill>
          <a:ln/>
        </p:spPr>
        <p:txBody>
          <a:bodyPr/>
          <a:p/>
        </p:txBody>
      </p:sp>
      <p:sp>
        <p:nvSpPr>
          <p:cNvPr id="12" name="Text 9"/>
          <p:cNvSpPr/>
          <p:nvPr/>
        </p:nvSpPr>
        <p:spPr>
          <a:xfrm>
            <a:off x="457200" y="20116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a:t>
            </a:r>
            <a:endParaRPr lang="en-US" sz="1600" dirty="0"/>
          </a:p>
        </p:txBody>
      </p:sp>
      <p:sp>
        <p:nvSpPr>
          <p:cNvPr id="13" name="Text 10"/>
          <p:cNvSpPr/>
          <p:nvPr/>
        </p:nvSpPr>
        <p:spPr>
          <a:xfrm>
            <a:off x="1005840" y="2011680"/>
            <a:ext cx="7680960" cy="36576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偏差値はどの模試の基準ですか？</a:t>
            </a:r>
            <a:endParaRPr lang="en-US" sz="1400" dirty="0"/>
          </a:p>
        </p:txBody>
      </p:sp>
      <p:sp>
        <p:nvSpPr>
          <p:cNvPr id="14" name="Shape 11"/>
          <p:cNvSpPr/>
          <p:nvPr/>
        </p:nvSpPr>
        <p:spPr>
          <a:xfrm>
            <a:off x="1005840" y="2423160"/>
            <a:ext cx="7680960" cy="457200"/>
          </a:xfrm>
          <a:prstGeom prst="rect">
            <a:avLst/>
          </a:prstGeom>
          <a:solidFill>
            <a:srgbClr val="F0F4F8"/>
          </a:solidFill>
          <a:ln/>
        </p:spPr>
        <p:txBody>
          <a:bodyPr/>
          <a:p/>
        </p:txBody>
      </p:sp>
      <p:sp>
        <p:nvSpPr>
          <p:cNvPr id="15" name="Text 12"/>
          <p:cNvSpPr/>
          <p:nvPr/>
        </p:nvSpPr>
        <p:spPr>
          <a:xfrm>
            <a:off x="1188720" y="2423160"/>
            <a:ext cx="7315200" cy="45720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四谷大塚・首都圏模試・日能研の3つから選べます。お子さまが受けている模試に合わせてテストの種類を切り替えてください。</a:t>
            </a:r>
            <a:endParaRPr lang="en-US" sz="1100" dirty="0"/>
          </a:p>
        </p:txBody>
      </p:sp>
      <p:sp>
        <p:nvSpPr>
          <p:cNvPr id="16" name="Shape 13"/>
          <p:cNvSpPr/>
          <p:nvPr/>
        </p:nvSpPr>
        <p:spPr>
          <a:xfrm>
            <a:off x="457200" y="3017520"/>
            <a:ext cx="411480" cy="411480"/>
          </a:xfrm>
          <a:prstGeom prst="rect">
            <a:avLst/>
          </a:prstGeom>
          <a:solidFill>
            <a:srgbClr val="3498DB"/>
          </a:solidFill>
          <a:ln/>
        </p:spPr>
        <p:txBody>
          <a:bodyPr/>
          <a:p/>
        </p:txBody>
      </p:sp>
      <p:sp>
        <p:nvSpPr>
          <p:cNvPr id="17" name="Text 14"/>
          <p:cNvSpPr/>
          <p:nvPr/>
        </p:nvSpPr>
        <p:spPr>
          <a:xfrm>
            <a:off x="457200" y="3017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a:t>
            </a:r>
            <a:endParaRPr lang="en-US" sz="1600" dirty="0"/>
          </a:p>
        </p:txBody>
      </p:sp>
      <p:sp>
        <p:nvSpPr>
          <p:cNvPr id="18" name="Text 15"/>
          <p:cNvSpPr/>
          <p:nvPr/>
        </p:nvSpPr>
        <p:spPr>
          <a:xfrm>
            <a:off x="1005840" y="3017520"/>
            <a:ext cx="7680960" cy="36576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データは何年度のものですか？</a:t>
            </a:r>
            <a:endParaRPr lang="en-US" sz="1400" dirty="0"/>
          </a:p>
        </p:txBody>
      </p:sp>
      <p:sp>
        <p:nvSpPr>
          <p:cNvPr id="19" name="Shape 16"/>
          <p:cNvSpPr/>
          <p:nvPr/>
        </p:nvSpPr>
        <p:spPr>
          <a:xfrm>
            <a:off x="1005840" y="3429000"/>
            <a:ext cx="7680960" cy="457200"/>
          </a:xfrm>
          <a:prstGeom prst="rect">
            <a:avLst/>
          </a:prstGeom>
          <a:solidFill>
            <a:srgbClr val="F0F4F8"/>
          </a:solidFill>
          <a:ln/>
        </p:spPr>
        <p:txBody>
          <a:bodyPr/>
          <a:p/>
        </p:txBody>
      </p:sp>
      <p:sp>
        <p:nvSpPr>
          <p:cNvPr id="20" name="Text 17"/>
          <p:cNvSpPr/>
          <p:nvPr/>
        </p:nvSpPr>
        <p:spPr>
          <a:xfrm>
            <a:off x="1188720" y="3429000"/>
            <a:ext cx="7315200" cy="45720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2026年度入試のデータに基づいています。</a:t>
            </a:r>
            <a:endParaRPr lang="en-US" sz="1100" dirty="0"/>
          </a:p>
        </p:txBody>
      </p:sp>
      <p:sp>
        <p:nvSpPr>
          <p:cNvPr id="21" name="Shape 18"/>
          <p:cNvSpPr/>
          <p:nvPr/>
        </p:nvSpPr>
        <p:spPr>
          <a:xfrm>
            <a:off x="457200" y="4023360"/>
            <a:ext cx="411480" cy="411480"/>
          </a:xfrm>
          <a:prstGeom prst="rect">
            <a:avLst/>
          </a:prstGeom>
          <a:solidFill>
            <a:srgbClr val="3498DB"/>
          </a:solidFill>
          <a:ln/>
        </p:spPr>
        <p:txBody>
          <a:bodyPr/>
          <a:p/>
        </p:txBody>
      </p:sp>
      <p:sp>
        <p:nvSpPr>
          <p:cNvPr id="22" name="Text 19"/>
          <p:cNvSpPr/>
          <p:nvPr/>
        </p:nvSpPr>
        <p:spPr>
          <a:xfrm>
            <a:off x="457200" y="40233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a:t>
            </a:r>
            <a:endParaRPr lang="en-US" sz="1600" dirty="0"/>
          </a:p>
        </p:txBody>
      </p:sp>
      <p:sp>
        <p:nvSpPr>
          <p:cNvPr id="23" name="Text 20"/>
          <p:cNvSpPr/>
          <p:nvPr/>
        </p:nvSpPr>
        <p:spPr>
          <a:xfrm>
            <a:off x="1005840" y="4023360"/>
            <a:ext cx="7680960" cy="365760"/>
          </a:xfrm>
          <a:prstGeom prst="rect">
            <a:avLst/>
          </a:prstGeom>
          <a:noFill/>
          <a:ln/>
        </p:spPr>
        <p:txBody>
          <a:bodyPr wrap="square" lIns="0" tIns="0" rIns="0" bIns="0" rtlCol="0" anchor="ctr"/>
          <a:lstStyle/>
          <a:p>
            <a:pPr indent="0" marL="0">
              <a:buNone/>
            </a:pPr>
            <a:r>
              <a:rPr lang="en-US" sz="1400" b="1" dirty="0">
                <a:solidFill>
                  <a:srgbClr val="2D3436"/>
                </a:solidFill>
                <a:latin typeface="Calibri" pitchFamily="34" charset="0"/>
                <a:ea typeface="Calibri" pitchFamily="34" charset="-122"/>
                <a:cs typeface="Calibri" pitchFamily="34" charset="-120"/>
              </a:rPr>
              <a:t>表示された併願パターンの通りに出願すべき？</a:t>
            </a:r>
            <a:endParaRPr lang="en-US" sz="1400" dirty="0"/>
          </a:p>
        </p:txBody>
      </p:sp>
      <p:sp>
        <p:nvSpPr>
          <p:cNvPr id="24" name="Shape 21"/>
          <p:cNvSpPr/>
          <p:nvPr/>
        </p:nvSpPr>
        <p:spPr>
          <a:xfrm>
            <a:off x="1005840" y="4434840"/>
            <a:ext cx="7680960" cy="457200"/>
          </a:xfrm>
          <a:prstGeom prst="rect">
            <a:avLst/>
          </a:prstGeom>
          <a:solidFill>
            <a:srgbClr val="F0F4F8"/>
          </a:solidFill>
          <a:ln/>
        </p:spPr>
        <p:txBody>
          <a:bodyPr/>
          <a:p/>
        </p:txBody>
      </p:sp>
      <p:sp>
        <p:nvSpPr>
          <p:cNvPr id="25" name="Text 22"/>
          <p:cNvSpPr/>
          <p:nvPr/>
        </p:nvSpPr>
        <p:spPr>
          <a:xfrm>
            <a:off x="1188720" y="4434840"/>
            <a:ext cx="7315200" cy="457200"/>
          </a:xfrm>
          <a:prstGeom prst="rect">
            <a:avLst/>
          </a:prstGeom>
          <a:noFill/>
          <a:ln/>
        </p:spPr>
        <p:txBody>
          <a:bodyPr wrap="square" lIns="0" tIns="0" rIns="0" bIns="0" rtlCol="0" anchor="ctr"/>
          <a:lstStyle/>
          <a:p>
            <a:pPr indent="0" marL="0">
              <a:buNone/>
            </a:pPr>
            <a:r>
              <a:rPr lang="en-US" sz="1100" dirty="0">
                <a:solidFill>
                  <a:srgbClr val="636E72"/>
                </a:solidFill>
                <a:latin typeface="Calibri" pitchFamily="34" charset="0"/>
                <a:ea typeface="Calibri" pitchFamily="34" charset="-122"/>
                <a:cs typeface="Calibri" pitchFamily="34" charset="-120"/>
              </a:rPr>
              <a:t>本ツールの提案はあくまで参考情報です。実際の出願は各学校の募集要項をご確認のうえ、塾の先生にもご相談ください。</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併願パターン提案ツール 使い方マニュアル</dc:title>
  <dc:subject>PptxGenJS Presentation</dc:subject>
  <dc:creator>併願ツール</dc:creator>
  <cp:lastModifiedBy>併願ツール</cp:lastModifiedBy>
  <cp:revision>1</cp:revision>
  <dcterms:created xsi:type="dcterms:W3CDTF">2026-03-25T12:12:35Z</dcterms:created>
  <dcterms:modified xsi:type="dcterms:W3CDTF">2026-03-25T12:12:35Z</dcterms:modified>
</cp:coreProperties>
</file>